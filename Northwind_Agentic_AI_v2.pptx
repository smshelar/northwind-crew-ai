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70" r:id="rId3"/>
    <p:sldId id="271" r:id="rId4"/>
    <p:sldId id="272" r:id="rId5"/>
    <p:sldId id="257" r:id="rId6"/>
    <p:sldId id="266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7" r:id="rId16"/>
    <p:sldId id="268" r:id="rId17"/>
    <p:sldId id="277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29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60"/>
    <p:restoredTop sz="94610"/>
  </p:normalViewPr>
  <p:slideViewPr>
    <p:cSldViewPr snapToGrid="0" snapToObjects="1">
      <p:cViewPr varScale="1">
        <p:scale>
          <a:sx n="129" d="100"/>
          <a:sy n="129" d="100"/>
        </p:scale>
        <p:origin x="192" y="504"/>
      </p:cViewPr>
      <p:guideLst>
        <p:guide orient="horz" pos="1529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IE" sz="1100" b="0" i="0" u="none" strike="noStrike">
                <a:solidFill>
                  <a:srgbClr val="FFFFFF"/>
                </a:solidFill>
                <a:latin typeface="Arial"/>
              </a:rPr>
              <a:t>Speed (lower = faster)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Response Time (ms)</c:v>
                </c:pt>
              </c:strCache>
            </c:strRef>
          </c:tx>
          <c:spPr>
            <a:solidFill>
              <a:srgbClr val="4CAF5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269-4D41-B000-096F38AE7564}"/>
              </c:ext>
            </c:extLst>
          </c:dPt>
          <c:dPt>
            <c:idx val="1"/>
            <c:invertIfNegative val="0"/>
            <c:bubble3D val="0"/>
            <c:spPr>
              <a:solidFill>
                <a:srgbClr val="4F7EF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269-4D41-B000-096F38AE7564}"/>
              </c:ext>
            </c:extLst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269-4D41-B000-096F38AE7564}"/>
              </c:ext>
            </c:extLst>
          </c:dPt>
          <c:dPt>
            <c:idx val="3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269-4D41-B000-096F38AE756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Groq Llama 3.1 8b</c:v>
                </c:pt>
                <c:pt idx="1">
                  <c:v>Mistral 7b</c:v>
                </c:pt>
                <c:pt idx="2">
                  <c:v>Gemini 2.0 Flash</c:v>
                </c:pt>
                <c:pt idx="3">
                  <c:v>Cohere Command 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377</c:v>
                </c:pt>
                <c:pt idx="1">
                  <c:v>1046</c:v>
                </c:pt>
                <c:pt idx="2">
                  <c:v>2766</c:v>
                </c:pt>
                <c:pt idx="3">
                  <c:v>9514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269-4D41-B000-096F38AE756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B8C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2D3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B8C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61B27"/>
    </a:solidFill>
    <a:ln>
      <a:noFill/>
    </a:ln>
    <a:effectLst/>
  </c:spPr>
  <c:externalData r:id="rId1">
    <c:autoUpdate val="0"/>
  </c:externalData>
</c:chartSpace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08:33:00.14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7 24575,'12'0'0,"0"0"0,2 0 0,1 0 0,0 0 0,0 0 0,-1 0 0,1 0 0,-1 0 0,-3 0 0,-2 0 0,0 0 0,2 0 0,-1 0 0,1 0 0,-2 0 0,-1 0 0,1 0 0,-2 0 0,1 0 0,0 0 0,1 0 0,1 0 0,2 0 0,0 0 0,3 0 0,2 0 0,5 0 0,-1 0 0,-1 0 0,-5 0 0,-2 0 0,0 0 0,0 0 0,2 0 0,1 0 0,4 0 0,-1 0 0,2 0 0,-1 0 0,-3 0 0,2 0 0,0 0 0,1 0 0,-1 0 0,-2 0 0,-4 0 0,-3 0 0,-1 0 0,-2 0 0,0 0 0,1 0 0,2 0 0,0 0 0,2 0 0,1 0 0,1 0 0,0 0 0,-2 0 0,-3 0 0,0 0 0,-2 0 0,0 0 0,0 0 0,-1 0 0,1 0 0,0 0 0,0 0 0,0 0 0,-1-1 0,-2 0 0,1-1 0,0 0 0,1 2 0,1 0 0,-1 0 0,0 0 0,1 0 0,0 0 0,0 0 0,-3 0 0,-1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08:37:10.51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0 24575,'0'0'0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7746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757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5881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5E6F7-178F-8B6A-65F9-3ECBF3FED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CC129C-A9A7-1752-9C21-C7F5A9B563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DAEB75-10A5-A3A3-A5FC-38D5D2A798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29C270-0988-CBEB-4F8F-A1889E5DF7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4135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E3A53-2423-605F-2B0C-D6DF355A0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1CA92A-6675-B1CB-742D-9EC07E9859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5A8355-4E23-F150-3A41-DFD41E4E15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20C907-A836-C929-C3BA-A8C11D2A72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3012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599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customXml" Target="../ink/ink2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4CAF50"/>
                </a:solidFill>
              </a:rPr>
              <a:t>AGENTIC AI + RAG PROJECT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</a:rPr>
              <a:t>Northwind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36576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4CAF50"/>
                </a:solidFill>
              </a:rPr>
              <a:t>Agentic AI + RAG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365760" y="283464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B0B8CC"/>
                </a:solidFill>
              </a:rPr>
              <a:t>Multi-agent AI with RAG, Memory, Evaluation &amp; Guardrails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B0B8CC"/>
                </a:solidFill>
              </a:rPr>
              <a:t>Powered by CrewAI · ChromaDB · Gemini · Groq · Mistral · Cohere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4297680"/>
            <a:ext cx="1325880" cy="347472"/>
          </a:xfrm>
          <a:prstGeom prst="rect">
            <a:avLst/>
          </a:prstGeom>
          <a:solidFill>
            <a:srgbClr val="161B27"/>
          </a:solidFill>
          <a:ln w="12700">
            <a:solidFill>
              <a:srgbClr val="4F7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429768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F7EF8"/>
                </a:solidFill>
              </a:rPr>
              <a:t>CrewAI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28800" y="4297680"/>
            <a:ext cx="1325880" cy="347472"/>
          </a:xfrm>
          <a:prstGeom prst="rect">
            <a:avLst/>
          </a:prstGeom>
          <a:solidFill>
            <a:srgbClr val="161B27"/>
          </a:solidFill>
          <a:ln w="12700">
            <a:solidFill>
              <a:srgbClr val="4F7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828800" y="429768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F7EF8"/>
                </a:solidFill>
              </a:rPr>
              <a:t>ChromaDB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4297680"/>
            <a:ext cx="1325880" cy="347472"/>
          </a:xfrm>
          <a:prstGeom prst="rect">
            <a:avLst/>
          </a:prstGeom>
          <a:solidFill>
            <a:srgbClr val="161B27"/>
          </a:solidFill>
          <a:ln w="12700">
            <a:solidFill>
              <a:srgbClr val="4F7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91840" y="429768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F7EF8"/>
                </a:solidFill>
              </a:rPr>
              <a:t>RAG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4297680"/>
            <a:ext cx="1325880" cy="347472"/>
          </a:xfrm>
          <a:prstGeom prst="rect">
            <a:avLst/>
          </a:prstGeom>
          <a:solidFill>
            <a:srgbClr val="161B27"/>
          </a:solidFill>
          <a:ln w="12700">
            <a:solidFill>
              <a:srgbClr val="4F7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54880" y="429768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F7EF8"/>
                </a:solidFill>
              </a:rPr>
              <a:t>Streamlit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4297680"/>
            <a:ext cx="1325880" cy="347472"/>
          </a:xfrm>
          <a:prstGeom prst="rect">
            <a:avLst/>
          </a:prstGeom>
          <a:solidFill>
            <a:srgbClr val="161B27"/>
          </a:solidFill>
          <a:ln w="12700">
            <a:solidFill>
              <a:srgbClr val="4F7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17920" y="429768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F7EF8"/>
                </a:solidFill>
              </a:rPr>
              <a:t>4 LLMs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680960" y="4297680"/>
            <a:ext cx="1325880" cy="347472"/>
          </a:xfrm>
          <a:prstGeom prst="rect">
            <a:avLst/>
          </a:prstGeom>
          <a:solidFill>
            <a:srgbClr val="161B27"/>
          </a:solidFill>
          <a:ln w="12700">
            <a:solidFill>
              <a:srgbClr val="4F7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680960" y="429768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F7EF8"/>
                </a:solidFill>
              </a:rPr>
              <a:t>GitHub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4CAF50"/>
                </a:solidFill>
              </a:rPr>
              <a:t>PROBLEM STATEMENT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The Challenge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4160520" cy="1417320"/>
          </a:xfrm>
          <a:prstGeom prst="rect">
            <a:avLst/>
          </a:prstGeom>
          <a:solidFill>
            <a:srgbClr val="161B27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109728" cy="141732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🔍  Data is locked away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B0B8CC"/>
                </a:solidFill>
              </a:rPr>
              <a:t>Business data sits in databases that require SQL expertise to access — non-technical users are excluded.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800600" y="1417320"/>
            <a:ext cx="4160520" cy="1417320"/>
          </a:xfrm>
          <a:prstGeom prst="rect">
            <a:avLst/>
          </a:prstGeom>
          <a:solidFill>
            <a:srgbClr val="161B27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800600" y="1417320"/>
            <a:ext cx="109728" cy="141732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83480" y="15544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⏱️  Slow decision making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83480" y="192024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B0B8CC"/>
                </a:solidFill>
              </a:rPr>
              <a:t>Waiting for analysts to write queries and build reports delays critical business decisions.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3017520"/>
            <a:ext cx="4160520" cy="1417320"/>
          </a:xfrm>
          <a:prstGeom prst="rect">
            <a:avLst/>
          </a:prstGeom>
          <a:solidFill>
            <a:srgbClr val="161B27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3017520"/>
            <a:ext cx="109728" cy="141732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31546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📊  No instant insights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352044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B0B8CC"/>
                </a:solidFill>
              </a:rPr>
              <a:t>Converting raw data into meaningful charts and explanations requires manual work every time.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800600" y="3017520"/>
            <a:ext cx="4160520" cy="1417320"/>
          </a:xfrm>
          <a:prstGeom prst="rect">
            <a:avLst/>
          </a:prstGeom>
          <a:solidFill>
            <a:srgbClr val="161B27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800600" y="3017520"/>
            <a:ext cx="109728" cy="141732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83480" y="31546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🔄  Repetitive manual work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83480" y="352044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B0B8CC"/>
                </a:solidFill>
              </a:rPr>
              <a:t>The same queries get rewritten repeatedly with no automated pipeline to handle routine analysis.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1588192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4CAF50"/>
                </a:solidFill>
              </a:rPr>
              <a:t>PROJECT GOALS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What is Set Out to Build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59" y="1463040"/>
            <a:ext cx="1761215" cy="1554480"/>
          </a:xfrm>
          <a:prstGeom prst="rect">
            <a:avLst/>
          </a:prstGeom>
          <a:solidFill>
            <a:srgbClr val="161B27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29372" y="1600200"/>
            <a:ext cx="17612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CAF50"/>
                </a:solidFill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59" y="1920240"/>
            <a:ext cx="1761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 Natural Language Interface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59" y="2267712"/>
            <a:ext cx="176121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0B8CC"/>
                </a:solidFill>
              </a:rPr>
              <a:t>Allow users to ask business questions in plain English without writing any SQL.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19099" y="1456083"/>
            <a:ext cx="1761215" cy="1554480"/>
          </a:xfrm>
          <a:prstGeom prst="rect">
            <a:avLst/>
          </a:prstGeom>
          <a:solidFill>
            <a:srgbClr val="161B27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68794" y="1600200"/>
            <a:ext cx="880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CAF50"/>
                </a:solidFill>
              </a:rPr>
              <a:t>03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719099" y="1920240"/>
            <a:ext cx="17612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Automated SQL Generation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19099" y="2267712"/>
            <a:ext cx="18307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B0B8CC"/>
                </a:solidFill>
              </a:rPr>
              <a:t>The agent understands the schema stored in vector database, use the cosine similarity and write the query</a:t>
            </a:r>
          </a:p>
        </p:txBody>
      </p:sp>
      <p:sp>
        <p:nvSpPr>
          <p:cNvPr id="12" name="Shape 10"/>
          <p:cNvSpPr/>
          <p:nvPr/>
        </p:nvSpPr>
        <p:spPr>
          <a:xfrm>
            <a:off x="6925584" y="1463040"/>
            <a:ext cx="1761215" cy="1554480"/>
          </a:xfrm>
          <a:prstGeom prst="rect">
            <a:avLst/>
          </a:prstGeom>
          <a:solidFill>
            <a:srgbClr val="161B27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925582" y="1600200"/>
            <a:ext cx="157833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CAF50"/>
                </a:solidFill>
              </a:rPr>
              <a:t> 04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985216" y="1920240"/>
            <a:ext cx="16697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Reliable Data Execution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925580" y="2267712"/>
            <a:ext cx="176121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0B8CC"/>
                </a:solidFill>
              </a:rPr>
              <a:t>Execute SQL queries directly against a real database and return accurate results.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3200400"/>
            <a:ext cx="1761214" cy="1554480"/>
          </a:xfrm>
          <a:prstGeom prst="rect">
            <a:avLst/>
          </a:prstGeom>
          <a:solidFill>
            <a:srgbClr val="161B27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29372" y="3337560"/>
            <a:ext cx="173139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CAF50"/>
                </a:solidFill>
              </a:rPr>
              <a:t>05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99555" y="3657600"/>
            <a:ext cx="176121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Intelligent Visualizations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99555" y="4005072"/>
            <a:ext cx="1727419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0B8CC"/>
                </a:solidFill>
              </a:rPr>
              <a:t>Automatically choose the right chart type and generate business insights from the data.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19099" y="3220278"/>
            <a:ext cx="1727418" cy="1554480"/>
          </a:xfrm>
          <a:prstGeom prst="rect">
            <a:avLst/>
          </a:prstGeom>
          <a:solidFill>
            <a:srgbClr val="161B27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48914" y="3357438"/>
            <a:ext cx="88060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CAF50"/>
                </a:solidFill>
              </a:rPr>
              <a:t>07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719096" y="3677478"/>
            <a:ext cx="176121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 RAG + Multi-Agent Architecture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19095" y="4024950"/>
            <a:ext cx="172741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0B8CC"/>
                </a:solidFill>
              </a:rPr>
              <a:t>Demonstrate RAG and agentic AI with 3 specialized agents coordinated by CrewAI.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925580" y="3200400"/>
            <a:ext cx="1761220" cy="1554480"/>
          </a:xfrm>
          <a:prstGeom prst="rect">
            <a:avLst/>
          </a:prstGeom>
          <a:solidFill>
            <a:srgbClr val="161B27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925580" y="3337560"/>
            <a:ext cx="15783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CAF50"/>
                </a:solidFill>
              </a:rPr>
              <a:t> 08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925580" y="3657600"/>
            <a:ext cx="16697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 Practical UI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34138" y="4005072"/>
            <a:ext cx="1852661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0B8CC"/>
                </a:solidFill>
              </a:rPr>
              <a:t>A clean Streamlit dashboard that anyone can use — no technical knowledge required.</a:t>
            </a:r>
            <a:endParaRPr lang="en-US" sz="1050" dirty="0"/>
          </a:p>
        </p:txBody>
      </p:sp>
      <p:sp>
        <p:nvSpPr>
          <p:cNvPr id="28" name="Shape 2">
            <a:extLst>
              <a:ext uri="{FF2B5EF4-FFF2-40B4-BE49-F238E27FC236}">
                <a16:creationId xmlns:a16="http://schemas.microsoft.com/office/drawing/2014/main" id="{8305169C-E23E-2006-7C6E-39483AB0DB7F}"/>
              </a:ext>
            </a:extLst>
          </p:cNvPr>
          <p:cNvSpPr/>
          <p:nvPr/>
        </p:nvSpPr>
        <p:spPr>
          <a:xfrm>
            <a:off x="2505983" y="1456416"/>
            <a:ext cx="1761215" cy="1554480"/>
          </a:xfrm>
          <a:prstGeom prst="rect">
            <a:avLst/>
          </a:prstGeom>
          <a:solidFill>
            <a:srgbClr val="161B27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3">
            <a:extLst>
              <a:ext uri="{FF2B5EF4-FFF2-40B4-BE49-F238E27FC236}">
                <a16:creationId xmlns:a16="http://schemas.microsoft.com/office/drawing/2014/main" id="{57172E62-68A9-BD4B-EF8B-6530D80A361C}"/>
              </a:ext>
            </a:extLst>
          </p:cNvPr>
          <p:cNvSpPr/>
          <p:nvPr/>
        </p:nvSpPr>
        <p:spPr>
          <a:xfrm>
            <a:off x="2569596" y="1593576"/>
            <a:ext cx="17612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CAF50"/>
                </a:solidFill>
              </a:rPr>
              <a:t>02</a:t>
            </a:r>
            <a:endParaRPr lang="en-US" sz="2200" dirty="0"/>
          </a:p>
        </p:txBody>
      </p:sp>
      <p:sp>
        <p:nvSpPr>
          <p:cNvPr id="30" name="Text 4">
            <a:extLst>
              <a:ext uri="{FF2B5EF4-FFF2-40B4-BE49-F238E27FC236}">
                <a16:creationId xmlns:a16="http://schemas.microsoft.com/office/drawing/2014/main" id="{08B41961-BCA3-73DC-4392-E47618BC2FF5}"/>
              </a:ext>
            </a:extLst>
          </p:cNvPr>
          <p:cNvSpPr/>
          <p:nvPr/>
        </p:nvSpPr>
        <p:spPr>
          <a:xfrm>
            <a:off x="2505983" y="1913616"/>
            <a:ext cx="1761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 RAG SYSTEM</a:t>
            </a:r>
            <a:endParaRPr lang="en-US" sz="1200" dirty="0"/>
          </a:p>
        </p:txBody>
      </p:sp>
      <p:sp>
        <p:nvSpPr>
          <p:cNvPr id="31" name="Text 5">
            <a:extLst>
              <a:ext uri="{FF2B5EF4-FFF2-40B4-BE49-F238E27FC236}">
                <a16:creationId xmlns:a16="http://schemas.microsoft.com/office/drawing/2014/main" id="{DC68ED49-DF14-99F5-C760-D182F7C10AD3}"/>
              </a:ext>
            </a:extLst>
          </p:cNvPr>
          <p:cNvSpPr/>
          <p:nvPr/>
        </p:nvSpPr>
        <p:spPr>
          <a:xfrm>
            <a:off x="2505983" y="2261088"/>
            <a:ext cx="176121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0B8CC"/>
                </a:solidFill>
              </a:rPr>
              <a:t>The system is build where a tables are vectorized and stored into a vector database ‘</a:t>
            </a:r>
            <a:r>
              <a:rPr lang="en-US" sz="1050" dirty="0" err="1">
                <a:solidFill>
                  <a:srgbClr val="B0B8CC"/>
                </a:solidFill>
              </a:rPr>
              <a:t>chromadb</a:t>
            </a:r>
            <a:r>
              <a:rPr lang="en-US" sz="1050" dirty="0">
                <a:solidFill>
                  <a:srgbClr val="B0B8CC"/>
                </a:solidFill>
              </a:rPr>
              <a:t>’.</a:t>
            </a:r>
            <a:endParaRPr lang="en-US" sz="1050" dirty="0"/>
          </a:p>
        </p:txBody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01146511-88E8-2F6A-A3E8-F4A023B9C80E}"/>
              </a:ext>
            </a:extLst>
          </p:cNvPr>
          <p:cNvSpPr/>
          <p:nvPr/>
        </p:nvSpPr>
        <p:spPr>
          <a:xfrm>
            <a:off x="2519237" y="3228893"/>
            <a:ext cx="1761215" cy="1554480"/>
          </a:xfrm>
          <a:prstGeom prst="rect">
            <a:avLst/>
          </a:prstGeom>
          <a:solidFill>
            <a:srgbClr val="161B27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">
            <a:extLst>
              <a:ext uri="{FF2B5EF4-FFF2-40B4-BE49-F238E27FC236}">
                <a16:creationId xmlns:a16="http://schemas.microsoft.com/office/drawing/2014/main" id="{1C3EC34D-0251-B419-6D9D-0013CAC6ACE6}"/>
              </a:ext>
            </a:extLst>
          </p:cNvPr>
          <p:cNvSpPr/>
          <p:nvPr/>
        </p:nvSpPr>
        <p:spPr>
          <a:xfrm>
            <a:off x="2582850" y="3366053"/>
            <a:ext cx="17612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CAF50"/>
                </a:solidFill>
              </a:rPr>
              <a:t>06</a:t>
            </a:r>
            <a:endParaRPr lang="en-US" sz="2200" dirty="0"/>
          </a:p>
        </p:txBody>
      </p:sp>
      <p:sp>
        <p:nvSpPr>
          <p:cNvPr id="34" name="Text 4">
            <a:extLst>
              <a:ext uri="{FF2B5EF4-FFF2-40B4-BE49-F238E27FC236}">
                <a16:creationId xmlns:a16="http://schemas.microsoft.com/office/drawing/2014/main" id="{2548174C-12AD-7D00-F593-61957A6083A3}"/>
              </a:ext>
            </a:extLst>
          </p:cNvPr>
          <p:cNvSpPr/>
          <p:nvPr/>
        </p:nvSpPr>
        <p:spPr>
          <a:xfrm>
            <a:off x="2519237" y="3686093"/>
            <a:ext cx="179103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Guardrails, memory and evaluation</a:t>
            </a:r>
            <a:endParaRPr lang="en-US" sz="1200" dirty="0"/>
          </a:p>
        </p:txBody>
      </p:sp>
      <p:sp>
        <p:nvSpPr>
          <p:cNvPr id="35" name="Text 5">
            <a:extLst>
              <a:ext uri="{FF2B5EF4-FFF2-40B4-BE49-F238E27FC236}">
                <a16:creationId xmlns:a16="http://schemas.microsoft.com/office/drawing/2014/main" id="{E5FC717F-F436-E381-A081-41C2A1100414}"/>
              </a:ext>
            </a:extLst>
          </p:cNvPr>
          <p:cNvSpPr/>
          <p:nvPr/>
        </p:nvSpPr>
        <p:spPr>
          <a:xfrm>
            <a:off x="2519237" y="4072661"/>
            <a:ext cx="1761215" cy="6106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0B8CC"/>
                </a:solidFill>
              </a:rPr>
              <a:t>The input and output constraints are used, saved most common queries and compared multiple models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517040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2965D9-B8ED-D37C-51E5-392A65B2F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5053C9C-BA44-B825-10BE-24F0DC77AAF4}"/>
              </a:ext>
            </a:extLst>
          </p:cNvPr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kern="0" spc="400" dirty="0">
                <a:solidFill>
                  <a:srgbClr val="4CAF50"/>
                </a:solidFill>
              </a:rPr>
              <a:t>Northwind Database Overview</a:t>
            </a:r>
            <a:endParaRPr lang="en-US" sz="11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33F0C44-77C8-F5D3-F0C1-D2E3534DE361}"/>
              </a:ext>
            </a:extLst>
          </p:cNvPr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600" b="1" dirty="0">
                <a:solidFill>
                  <a:srgbClr val="FFFFFF"/>
                </a:solidFill>
              </a:rPr>
              <a:t>Database features</a:t>
            </a:r>
            <a:endParaRPr lang="en-US" sz="3600" dirty="0"/>
          </a:p>
        </p:txBody>
      </p:sp>
      <p:sp>
        <p:nvSpPr>
          <p:cNvPr id="28" name="Shape 2">
            <a:extLst>
              <a:ext uri="{FF2B5EF4-FFF2-40B4-BE49-F238E27FC236}">
                <a16:creationId xmlns:a16="http://schemas.microsoft.com/office/drawing/2014/main" id="{381C19C3-37EC-0D1B-10CE-0C44BD47606A}"/>
              </a:ext>
            </a:extLst>
          </p:cNvPr>
          <p:cNvSpPr/>
          <p:nvPr/>
        </p:nvSpPr>
        <p:spPr>
          <a:xfrm>
            <a:off x="365760" y="1417320"/>
            <a:ext cx="4160520" cy="1417320"/>
          </a:xfrm>
          <a:prstGeom prst="rect">
            <a:avLst/>
          </a:prstGeom>
          <a:solidFill>
            <a:srgbClr val="161B27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3">
            <a:extLst>
              <a:ext uri="{FF2B5EF4-FFF2-40B4-BE49-F238E27FC236}">
                <a16:creationId xmlns:a16="http://schemas.microsoft.com/office/drawing/2014/main" id="{0C7862FB-0A6C-B3F1-3C39-24829DC05389}"/>
              </a:ext>
            </a:extLst>
          </p:cNvPr>
          <p:cNvSpPr/>
          <p:nvPr/>
        </p:nvSpPr>
        <p:spPr>
          <a:xfrm>
            <a:off x="365760" y="1417320"/>
            <a:ext cx="109728" cy="141732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5">
            <a:extLst>
              <a:ext uri="{FF2B5EF4-FFF2-40B4-BE49-F238E27FC236}">
                <a16:creationId xmlns:a16="http://schemas.microsoft.com/office/drawing/2014/main" id="{790ECBDC-4D6F-C591-4C70-679927CC4F80}"/>
              </a:ext>
            </a:extLst>
          </p:cNvPr>
          <p:cNvSpPr/>
          <p:nvPr/>
        </p:nvSpPr>
        <p:spPr>
          <a:xfrm>
            <a:off x="548640" y="1647568"/>
            <a:ext cx="3840480" cy="1049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B0B8CC"/>
                </a:solidFill>
              </a:rPr>
              <a:t>The Northwind Database is a sample relational database used to demonstrate business operations of a trading company. It models real-world scenarios like customers, orders, products, and suppliers, making it ideal for learning SQL, analytics, and data modeling.</a:t>
            </a:r>
            <a:endParaRPr lang="en-US" sz="1150" dirty="0"/>
          </a:p>
        </p:txBody>
      </p:sp>
      <p:sp>
        <p:nvSpPr>
          <p:cNvPr id="31" name="Shape 6">
            <a:extLst>
              <a:ext uri="{FF2B5EF4-FFF2-40B4-BE49-F238E27FC236}">
                <a16:creationId xmlns:a16="http://schemas.microsoft.com/office/drawing/2014/main" id="{29687D1D-83DD-58EE-529C-001C37649DBE}"/>
              </a:ext>
            </a:extLst>
          </p:cNvPr>
          <p:cNvSpPr/>
          <p:nvPr/>
        </p:nvSpPr>
        <p:spPr>
          <a:xfrm>
            <a:off x="4800600" y="1463864"/>
            <a:ext cx="4160520" cy="1417320"/>
          </a:xfrm>
          <a:prstGeom prst="rect">
            <a:avLst/>
          </a:prstGeom>
          <a:solidFill>
            <a:srgbClr val="161B27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r>
              <a:rPr lang="en-IE" sz="1000" dirty="0">
                <a:solidFill>
                  <a:srgbClr val="B0B8CC"/>
                </a:solidFill>
              </a:rPr>
              <a:t>  Key Tables &amp; Their Purpose:</a:t>
            </a:r>
          </a:p>
          <a:p>
            <a:r>
              <a:rPr lang="en-IE" sz="1000" dirty="0">
                <a:solidFill>
                  <a:srgbClr val="B0B8CC"/>
                </a:solidFill>
              </a:rPr>
              <a:t>  Customers – Stores customer details such as name, contact, and location</a:t>
            </a:r>
            <a:br>
              <a:rPr lang="en-IE" sz="1000" dirty="0">
                <a:solidFill>
                  <a:srgbClr val="B0B8CC"/>
                </a:solidFill>
              </a:rPr>
            </a:br>
            <a:r>
              <a:rPr lang="en-IE" sz="1000" dirty="0">
                <a:solidFill>
                  <a:srgbClr val="B0B8CC"/>
                </a:solidFill>
              </a:rPr>
              <a:t>  Orders – Contains order transactions placed by customers</a:t>
            </a:r>
            <a:br>
              <a:rPr lang="en-IE" sz="1000" dirty="0">
                <a:solidFill>
                  <a:srgbClr val="B0B8CC"/>
                </a:solidFill>
              </a:rPr>
            </a:br>
            <a:r>
              <a:rPr lang="en-IE" sz="1000" dirty="0">
                <a:solidFill>
                  <a:srgbClr val="B0B8CC"/>
                </a:solidFill>
              </a:rPr>
              <a:t>  Order Details – Line-level data for each order (products, quantity, price)</a:t>
            </a:r>
            <a:br>
              <a:rPr lang="en-IE" sz="1000" dirty="0">
                <a:solidFill>
                  <a:srgbClr val="B0B8CC"/>
                </a:solidFill>
              </a:rPr>
            </a:br>
            <a:r>
              <a:rPr lang="en-IE" sz="1000" dirty="0">
                <a:solidFill>
                  <a:srgbClr val="B0B8CC"/>
                </a:solidFill>
              </a:rPr>
              <a:t>  Products – Information about products sold (name, price, stock)</a:t>
            </a:r>
            <a:br>
              <a:rPr lang="en-IE" sz="1000" dirty="0">
                <a:solidFill>
                  <a:srgbClr val="B0B8CC"/>
                </a:solidFill>
              </a:rPr>
            </a:br>
            <a:r>
              <a:rPr lang="en-IE" sz="1000" dirty="0">
                <a:solidFill>
                  <a:srgbClr val="B0B8CC"/>
                </a:solidFill>
              </a:rPr>
              <a:t>  Categories – Groups products into categories (e.g., beverages, dairy)</a:t>
            </a:r>
            <a:br>
              <a:rPr lang="en-IE" sz="1000" dirty="0">
                <a:solidFill>
                  <a:srgbClr val="B0B8CC"/>
                </a:solidFill>
              </a:rPr>
            </a:br>
            <a:r>
              <a:rPr lang="en-IE" sz="1000" dirty="0">
                <a:solidFill>
                  <a:srgbClr val="B0B8CC"/>
                </a:solidFill>
              </a:rPr>
              <a:t>  Suppliers – Details of suppliers providing products</a:t>
            </a:r>
            <a:br>
              <a:rPr lang="en-IE" sz="1000" dirty="0">
                <a:solidFill>
                  <a:srgbClr val="B0B8CC"/>
                </a:solidFill>
              </a:rPr>
            </a:br>
            <a:r>
              <a:rPr lang="en-IE" sz="1000" dirty="0">
                <a:solidFill>
                  <a:srgbClr val="B0B8CC"/>
                </a:solidFill>
              </a:rPr>
              <a:t>  Employees – Employee information managing orders and customers</a:t>
            </a:r>
            <a:br>
              <a:rPr lang="en-IE" sz="1000" dirty="0">
                <a:solidFill>
                  <a:srgbClr val="B0B8CC"/>
                </a:solidFill>
              </a:rPr>
            </a:br>
            <a:r>
              <a:rPr lang="en-IE" sz="1000" dirty="0">
                <a:solidFill>
                  <a:srgbClr val="B0B8CC"/>
                </a:solidFill>
              </a:rPr>
              <a:t>  Shippers – Shipping companies responsible for deliveries</a:t>
            </a:r>
          </a:p>
        </p:txBody>
      </p:sp>
      <p:sp>
        <p:nvSpPr>
          <p:cNvPr id="32" name="Shape 10">
            <a:extLst>
              <a:ext uri="{FF2B5EF4-FFF2-40B4-BE49-F238E27FC236}">
                <a16:creationId xmlns:a16="http://schemas.microsoft.com/office/drawing/2014/main" id="{432D084E-257E-F351-3FA1-62E9A90A37EC}"/>
              </a:ext>
            </a:extLst>
          </p:cNvPr>
          <p:cNvSpPr/>
          <p:nvPr/>
        </p:nvSpPr>
        <p:spPr>
          <a:xfrm>
            <a:off x="365760" y="3017520"/>
            <a:ext cx="4160520" cy="1417320"/>
          </a:xfrm>
          <a:prstGeom prst="rect">
            <a:avLst/>
          </a:prstGeom>
          <a:solidFill>
            <a:srgbClr val="161B27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pPr>
              <a:lnSpc>
                <a:spcPct val="135000"/>
              </a:lnSpc>
            </a:pPr>
            <a:r>
              <a:rPr lang="en-IE" sz="1050" dirty="0">
                <a:solidFill>
                  <a:srgbClr val="B0B8CC"/>
                </a:solidFill>
              </a:rPr>
              <a:t>  Key Relationships:</a:t>
            </a:r>
          </a:p>
          <a:p>
            <a:pPr>
              <a:lnSpc>
                <a:spcPct val="135000"/>
              </a:lnSpc>
            </a:pPr>
            <a:r>
              <a:rPr lang="en-IE" sz="1050" dirty="0">
                <a:solidFill>
                  <a:srgbClr val="B0B8CC"/>
                </a:solidFill>
              </a:rPr>
              <a:t> • Customers → Orders (One-to-Many)</a:t>
            </a:r>
            <a:br>
              <a:rPr lang="en-IE" sz="1050" dirty="0">
                <a:solidFill>
                  <a:srgbClr val="B0B8CC"/>
                </a:solidFill>
              </a:rPr>
            </a:br>
            <a:r>
              <a:rPr lang="en-IE" sz="1050" dirty="0">
                <a:solidFill>
                  <a:srgbClr val="B0B8CC"/>
                </a:solidFill>
              </a:rPr>
              <a:t> • Orders → Order Details (One-to-Many)</a:t>
            </a:r>
            <a:br>
              <a:rPr lang="en-IE" sz="1050" dirty="0">
                <a:solidFill>
                  <a:srgbClr val="B0B8CC"/>
                </a:solidFill>
              </a:rPr>
            </a:br>
            <a:r>
              <a:rPr lang="en-IE" sz="1050" dirty="0">
                <a:solidFill>
                  <a:srgbClr val="B0B8CC"/>
                </a:solidFill>
              </a:rPr>
              <a:t> • Products → Order Details (One-to-Many)</a:t>
            </a:r>
            <a:br>
              <a:rPr lang="en-IE" sz="1050" dirty="0">
                <a:solidFill>
                  <a:srgbClr val="B0B8CC"/>
                </a:solidFill>
              </a:rPr>
            </a:br>
            <a:r>
              <a:rPr lang="en-IE" sz="1050" dirty="0">
                <a:solidFill>
                  <a:srgbClr val="B0B8CC"/>
                </a:solidFill>
              </a:rPr>
              <a:t> • Suppliers → Products (One-to-Many)</a:t>
            </a:r>
            <a:br>
              <a:rPr lang="en-IE" sz="1050" dirty="0">
                <a:solidFill>
                  <a:srgbClr val="B0B8CC"/>
                </a:solidFill>
              </a:rPr>
            </a:br>
            <a:r>
              <a:rPr lang="en-IE" sz="1050" dirty="0">
                <a:solidFill>
                  <a:srgbClr val="B0B8CC"/>
                </a:solidFill>
              </a:rPr>
              <a:t> • Categories → Products (One-to-Many)</a:t>
            </a:r>
          </a:p>
        </p:txBody>
      </p:sp>
      <p:sp>
        <p:nvSpPr>
          <p:cNvPr id="33" name="Shape 14">
            <a:extLst>
              <a:ext uri="{FF2B5EF4-FFF2-40B4-BE49-F238E27FC236}">
                <a16:creationId xmlns:a16="http://schemas.microsoft.com/office/drawing/2014/main" id="{ED743BB0-0D8E-55CE-E812-0F3A2461F67C}"/>
              </a:ext>
            </a:extLst>
          </p:cNvPr>
          <p:cNvSpPr/>
          <p:nvPr/>
        </p:nvSpPr>
        <p:spPr>
          <a:xfrm>
            <a:off x="4800600" y="3017520"/>
            <a:ext cx="4160520" cy="1417320"/>
          </a:xfrm>
          <a:prstGeom prst="rect">
            <a:avLst/>
          </a:prstGeom>
          <a:solidFill>
            <a:srgbClr val="161B27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r>
              <a:rPr lang="en-IE" sz="1200" b="1" dirty="0">
                <a:solidFill>
                  <a:schemeClr val="bg2">
                    <a:lumMod val="75000"/>
                  </a:schemeClr>
                </a:solidFill>
              </a:rPr>
              <a:t>  </a:t>
            </a:r>
            <a:r>
              <a:rPr lang="en-IE" sz="1150" dirty="0">
                <a:solidFill>
                  <a:srgbClr val="B0B8CC"/>
                </a:solidFill>
              </a:rPr>
              <a:t>Use Cases:</a:t>
            </a:r>
          </a:p>
          <a:p>
            <a:endParaRPr lang="en-IE" sz="1150" dirty="0">
              <a:solidFill>
                <a:srgbClr val="B0B8CC"/>
              </a:solidFill>
            </a:endParaRPr>
          </a:p>
          <a:p>
            <a:r>
              <a:rPr lang="en-IE" sz="1150" dirty="0">
                <a:solidFill>
                  <a:srgbClr val="B0B8CC"/>
                </a:solidFill>
              </a:rPr>
              <a:t> • Sales and revenue analysis</a:t>
            </a:r>
            <a:br>
              <a:rPr lang="en-IE" sz="1150" dirty="0">
                <a:solidFill>
                  <a:srgbClr val="B0B8CC"/>
                </a:solidFill>
              </a:rPr>
            </a:br>
            <a:r>
              <a:rPr lang="en-IE" sz="1150" dirty="0">
                <a:solidFill>
                  <a:srgbClr val="B0B8CC"/>
                </a:solidFill>
              </a:rPr>
              <a:t> • Customer segmentation</a:t>
            </a:r>
            <a:br>
              <a:rPr lang="en-IE" sz="1150" dirty="0">
                <a:solidFill>
                  <a:srgbClr val="B0B8CC"/>
                </a:solidFill>
              </a:rPr>
            </a:br>
            <a:r>
              <a:rPr lang="en-IE" sz="1150" dirty="0">
                <a:solidFill>
                  <a:srgbClr val="B0B8CC"/>
                </a:solidFill>
              </a:rPr>
              <a:t> • Inventory tracking</a:t>
            </a:r>
            <a:br>
              <a:rPr lang="en-IE" sz="1150" dirty="0">
                <a:solidFill>
                  <a:srgbClr val="B0B8CC"/>
                </a:solidFill>
              </a:rPr>
            </a:br>
            <a:r>
              <a:rPr lang="en-IE" sz="1150" dirty="0">
                <a:solidFill>
                  <a:srgbClr val="B0B8CC"/>
                </a:solidFill>
              </a:rPr>
              <a:t> • Supply chain analysis</a:t>
            </a:r>
          </a:p>
        </p:txBody>
      </p:sp>
      <p:sp>
        <p:nvSpPr>
          <p:cNvPr id="34" name="Shape 7">
            <a:extLst>
              <a:ext uri="{FF2B5EF4-FFF2-40B4-BE49-F238E27FC236}">
                <a16:creationId xmlns:a16="http://schemas.microsoft.com/office/drawing/2014/main" id="{EEC629D1-2421-BF49-578C-0F488C12C827}"/>
              </a:ext>
            </a:extLst>
          </p:cNvPr>
          <p:cNvSpPr/>
          <p:nvPr/>
        </p:nvSpPr>
        <p:spPr>
          <a:xfrm>
            <a:off x="4800600" y="1448727"/>
            <a:ext cx="109728" cy="141732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7">
            <a:extLst>
              <a:ext uri="{FF2B5EF4-FFF2-40B4-BE49-F238E27FC236}">
                <a16:creationId xmlns:a16="http://schemas.microsoft.com/office/drawing/2014/main" id="{AD710037-5CF3-5890-44B4-EBAAEB3A5C5E}"/>
              </a:ext>
            </a:extLst>
          </p:cNvPr>
          <p:cNvSpPr/>
          <p:nvPr/>
        </p:nvSpPr>
        <p:spPr>
          <a:xfrm>
            <a:off x="365760" y="3017520"/>
            <a:ext cx="109728" cy="141732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7">
            <a:extLst>
              <a:ext uri="{FF2B5EF4-FFF2-40B4-BE49-F238E27FC236}">
                <a16:creationId xmlns:a16="http://schemas.microsoft.com/office/drawing/2014/main" id="{8DA2221E-C167-2AD5-B9DE-0F6B993839CF}"/>
              </a:ext>
            </a:extLst>
          </p:cNvPr>
          <p:cNvSpPr/>
          <p:nvPr/>
        </p:nvSpPr>
        <p:spPr>
          <a:xfrm>
            <a:off x="4800600" y="3032657"/>
            <a:ext cx="109728" cy="141732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018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4CAF50"/>
                </a:solidFill>
              </a:rPr>
              <a:t>RAG — SCHEMA INDEXING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How Tables Were Stored in ChromaDB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1371600"/>
            <a:ext cx="4023360" cy="3383280"/>
          </a:xfrm>
          <a:prstGeom prst="rect">
            <a:avLst/>
          </a:prstGeom>
          <a:solidFill>
            <a:srgbClr val="161B27"/>
          </a:solidFill>
          <a:ln w="12700">
            <a:solidFill>
              <a:srgbClr val="4F7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4023360" cy="384048"/>
          </a:xfrm>
          <a:prstGeom prst="rect">
            <a:avLst/>
          </a:prstGeom>
          <a:solidFill>
            <a:srgbClr val="4F7EF8"/>
          </a:solidFill>
          <a:ln w="12700">
            <a:solidFill>
              <a:srgbClr val="4F7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3716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BEFORE — Raw Database (14 tables)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CAF50"/>
                </a:solidFill>
              </a:rPr>
              <a:t>Categories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828800" y="1828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8CC"/>
                </a:solidFill>
              </a:rPr>
              <a:t>CategoryID, CategoryName, Description, Picture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148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CAF50"/>
                </a:solidFill>
              </a:rPr>
              <a:t>Customers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828800" y="2148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8CC"/>
                </a:solidFill>
              </a:rPr>
              <a:t>CustomerID, CompanyName, ContactName, Country, City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468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CAF50"/>
                </a:solidFill>
              </a:rPr>
              <a:t>Orders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828800" y="2468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8CC"/>
                </a:solidFill>
              </a:rPr>
              <a:t>OrderID, CustomerID, EmployeeID, OrderDate, ShippedDate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2788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CAF50"/>
                </a:solidFill>
              </a:rPr>
              <a:t>[Order Details]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828800" y="2788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8CC"/>
                </a:solidFill>
              </a:rPr>
              <a:t>OrderID, ProductID, UnitPrice, Quantity, Discount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3108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CAF50"/>
                </a:solidFill>
              </a:rPr>
              <a:t>Products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828800" y="31089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8CC"/>
                </a:solidFill>
              </a:rPr>
              <a:t>ProductID, ProductName, CategoryID, UnitPrice, UnitsInStock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3429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CAF50"/>
                </a:solidFill>
              </a:rPr>
              <a:t>Employees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828800" y="3429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8CC"/>
                </a:solidFill>
              </a:rPr>
              <a:t>EmployeeID, FirstName, LastName, Title, HireDate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3749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CAF50"/>
                </a:solidFill>
              </a:rPr>
              <a:t>Suppliers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828800" y="3749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8CC"/>
                </a:solidFill>
              </a:rPr>
              <a:t>SupplierID, CompanyName, Country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4069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CAF50"/>
                </a:solidFill>
              </a:rPr>
              <a:t>Shippers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828800" y="4069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8CC"/>
                </a:solidFill>
              </a:rPr>
              <a:t>ShipperID, CompanyName, Phone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44348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+ 6 more tables not shown – total 14 tables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343400" y="3063240"/>
            <a:ext cx="457200" cy="0"/>
          </a:xfrm>
          <a:prstGeom prst="line">
            <a:avLst/>
          </a:prstGeom>
          <a:noFill/>
          <a:ln w="254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663440" y="29260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CAF50"/>
                </a:solidFill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800600" y="1371600"/>
            <a:ext cx="4023360" cy="3383280"/>
          </a:xfrm>
          <a:prstGeom prst="rect">
            <a:avLst/>
          </a:prstGeom>
          <a:solidFill>
            <a:srgbClr val="161B27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800600" y="1371600"/>
            <a:ext cx="4023360" cy="38404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92040" y="13716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AFTER — ChromaDB Vector Index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92040" y="18288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Table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72200" y="18288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Vector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818120" y="1828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Similarity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92040" y="217627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CAF50"/>
                </a:solidFill>
              </a:rPr>
              <a:t>Products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172200" y="217627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8CC"/>
                </a:solidFill>
              </a:rPr>
              <a:t>[0.23, 0.87, ...]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818120" y="217627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8CC"/>
                </a:solidFill>
              </a:rPr>
              <a:t>0.92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892040" y="252374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CAF50"/>
                </a:solidFill>
              </a:rPr>
              <a:t>Order Details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172200" y="252374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8CC"/>
                </a:solidFill>
              </a:rPr>
              <a:t>[0.18, 0.91, ...]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818120" y="2523744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8CC"/>
                </a:solidFill>
              </a:rPr>
              <a:t>0.88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892040" y="287121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CAF50"/>
                </a:solidFill>
              </a:rPr>
              <a:t>Orders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172200" y="287121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8CC"/>
                </a:solidFill>
              </a:rPr>
              <a:t>[0.31, 0.79, ...]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818120" y="287121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8CC"/>
                </a:solidFill>
              </a:rPr>
              <a:t>0.81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892040" y="321868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CAF50"/>
                </a:solidFill>
              </a:rPr>
              <a:t>Categories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172200" y="321868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8CC"/>
                </a:solidFill>
              </a:rPr>
              <a:t>[0.42, 0.65, ...]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7818120" y="321868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8CC"/>
                </a:solidFill>
              </a:rPr>
              <a:t>0.71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892040" y="35661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Customers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172200" y="3566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[0.11, 0.34, ...]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7818120" y="3566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0.31 ❌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892040" y="391363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Employees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172200" y="391363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[0.08, 0.29, ...]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7818120" y="391363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0.28 ❌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4892040" y="44348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9488"/>
                </a:solidFill>
              </a:rPr>
              <a:t>Distance metric: Cosine Similarity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4CAF50"/>
                </a:solidFill>
              </a:rPr>
              <a:t>Full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Full Pipeline with RAG + Memory + Evaluation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82880" y="1371600"/>
            <a:ext cx="1280160" cy="548640"/>
          </a:xfrm>
          <a:prstGeom prst="rect">
            <a:avLst/>
          </a:prstGeom>
          <a:solidFill>
            <a:srgbClr val="161B27"/>
          </a:solidFill>
          <a:ln w="12700">
            <a:solidFill>
              <a:srgbClr val="4F7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82880" y="1371600"/>
            <a:ext cx="1280160" cy="256032"/>
          </a:xfrm>
          <a:prstGeom prst="rect">
            <a:avLst/>
          </a:prstGeom>
          <a:solidFill>
            <a:srgbClr val="4F7EF8"/>
          </a:solidFill>
          <a:ln w="12700">
            <a:solidFill>
              <a:srgbClr val="4F7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" y="13716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User Input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28600" y="16459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8CC"/>
                </a:solidFill>
              </a:rPr>
              <a:t>Streamlit UI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463040" y="1527048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F7EF8"/>
                </a:solidFill>
              </a:rPr>
              <a:t>→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645920" y="1371600"/>
            <a:ext cx="1280160" cy="548640"/>
          </a:xfrm>
          <a:prstGeom prst="rect">
            <a:avLst/>
          </a:prstGeom>
          <a:solidFill>
            <a:srgbClr val="161B27"/>
          </a:solidFill>
          <a:ln w="1270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645920" y="1371600"/>
            <a:ext cx="1280160" cy="256032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691640" y="13716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Input Guard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691640" y="16459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8CC"/>
                </a:solidFill>
              </a:rPr>
              <a:t>Sanitise &amp; block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926080" y="1527048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4B4A"/>
                </a:solidFill>
              </a:rPr>
              <a:t>→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108960" y="1371600"/>
            <a:ext cx="1280160" cy="548640"/>
          </a:xfrm>
          <a:prstGeom prst="rect">
            <a:avLst/>
          </a:prstGeom>
          <a:solidFill>
            <a:srgbClr val="161B27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108960" y="1371600"/>
            <a:ext cx="128016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154680" y="13716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Memory Check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154680" y="16459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8CC"/>
                </a:solidFill>
              </a:rPr>
              <a:t>ChromaDB cache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389120" y="1527048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</a:rPr>
              <a:t>→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0" y="1371600"/>
            <a:ext cx="1280160" cy="548640"/>
          </a:xfrm>
          <a:prstGeom prst="rect">
            <a:avLst/>
          </a:prstGeom>
          <a:solidFill>
            <a:srgbClr val="161B27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72000" y="1371600"/>
            <a:ext cx="1280160" cy="25603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617720" y="13716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RAG Retrieval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17720" y="16459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8CC"/>
                </a:solidFill>
              </a:rPr>
              <a:t>Top 5 tables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852160" y="1527048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CAF50"/>
                </a:solidFill>
              </a:rPr>
              <a:t>→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35040" y="1371600"/>
            <a:ext cx="1280160" cy="548640"/>
          </a:xfrm>
          <a:prstGeom prst="rect">
            <a:avLst/>
          </a:prstGeom>
          <a:solidFill>
            <a:srgbClr val="161B27"/>
          </a:solidFill>
          <a:ln w="12700">
            <a:solidFill>
              <a:srgbClr val="4F7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035040" y="1371600"/>
            <a:ext cx="1280160" cy="256032"/>
          </a:xfrm>
          <a:prstGeom prst="rect">
            <a:avLst/>
          </a:prstGeom>
          <a:solidFill>
            <a:srgbClr val="4F7EF8"/>
          </a:solidFill>
          <a:ln w="12700">
            <a:solidFill>
              <a:srgbClr val="4F7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080760" y="13716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SQL Writer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080760" y="16459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8CC"/>
                </a:solidFill>
              </a:rPr>
              <a:t>Agent 1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315200" y="1527048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F7EF8"/>
                </a:solidFill>
              </a:rPr>
              <a:t>→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498080" y="1371600"/>
            <a:ext cx="1280160" cy="548640"/>
          </a:xfrm>
          <a:prstGeom prst="rect">
            <a:avLst/>
          </a:prstGeom>
          <a:solidFill>
            <a:srgbClr val="161B2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498080" y="1371600"/>
            <a:ext cx="128016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543800" y="13716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SQL Executor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543800" y="16459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8CC"/>
                </a:solidFill>
              </a:rPr>
              <a:t>Agent 2 (Python)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8138160" y="1920240"/>
            <a:ext cx="0" cy="18288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065008" y="2029968"/>
            <a:ext cx="228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9E0B"/>
                </a:solidFill>
              </a:rPr>
              <a:t>↓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498080" y="2103120"/>
            <a:ext cx="1280160" cy="548640"/>
          </a:xfrm>
          <a:prstGeom prst="rect">
            <a:avLst/>
          </a:prstGeom>
          <a:solidFill>
            <a:srgbClr val="161B27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7498080" y="2103120"/>
            <a:ext cx="1280160" cy="2560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543800" y="21031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Evaluator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543800" y="23774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8CC"/>
                </a:solidFill>
              </a:rPr>
              <a:t>Score &amp; detect halluc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8778240" y="2258568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97316"/>
                </a:solidFill>
              </a:rPr>
              <a:t>←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035040" y="2103120"/>
            <a:ext cx="1280160" cy="548640"/>
          </a:xfrm>
          <a:prstGeom prst="rect">
            <a:avLst/>
          </a:prstGeom>
          <a:solidFill>
            <a:srgbClr val="161B27"/>
          </a:solidFill>
          <a:ln w="1270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035040" y="2103120"/>
            <a:ext cx="1280160" cy="256032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080760" y="21031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Output Guard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080760" y="23774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8CC"/>
                </a:solidFill>
              </a:rPr>
              <a:t>Block bad results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7315200" y="2258568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4B4A"/>
                </a:solidFill>
              </a:rPr>
              <a:t>←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572000" y="2103120"/>
            <a:ext cx="1280160" cy="548640"/>
          </a:xfrm>
          <a:prstGeom prst="rect">
            <a:avLst/>
          </a:prstGeom>
          <a:solidFill>
            <a:srgbClr val="161B27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4572000" y="2103120"/>
            <a:ext cx="128016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617720" y="21031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Visualizer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617720" y="23774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8CC"/>
                </a:solidFill>
              </a:rPr>
              <a:t>Agent 3 + chart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5852160" y="2258568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</a:rPr>
              <a:t>←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3108960" y="2103120"/>
            <a:ext cx="1280160" cy="548640"/>
          </a:xfrm>
          <a:prstGeom prst="rect">
            <a:avLst/>
          </a:prstGeom>
          <a:solidFill>
            <a:srgbClr val="161B27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3108960" y="2103120"/>
            <a:ext cx="1280160" cy="25603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3154680" y="21031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Memory Save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3154680" y="23774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8CC"/>
                </a:solidFill>
              </a:rPr>
              <a:t>Cache if verified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4389120" y="2258568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CAF50"/>
                </a:solidFill>
              </a:rPr>
              <a:t>←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1645920" y="2103120"/>
            <a:ext cx="1280160" cy="548640"/>
          </a:xfrm>
          <a:prstGeom prst="rect">
            <a:avLst/>
          </a:prstGeom>
          <a:solidFill>
            <a:srgbClr val="161B27"/>
          </a:solidFill>
          <a:ln w="12700">
            <a:solidFill>
              <a:srgbClr val="4F7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1645920" y="2103120"/>
            <a:ext cx="1280160" cy="256032"/>
          </a:xfrm>
          <a:prstGeom prst="rect">
            <a:avLst/>
          </a:prstGeom>
          <a:solidFill>
            <a:srgbClr val="4F7EF8"/>
          </a:solidFill>
          <a:ln w="12700">
            <a:solidFill>
              <a:srgbClr val="4F7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1691640" y="21031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Streamlit UI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691640" y="23774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8CC"/>
                </a:solidFill>
              </a:rPr>
              <a:t>Show result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182880" y="2880360"/>
            <a:ext cx="8778240" cy="1005840"/>
          </a:xfrm>
          <a:prstGeom prst="rect">
            <a:avLst/>
          </a:prstGeom>
          <a:solidFill>
            <a:srgbClr val="161B27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182880" y="2880360"/>
            <a:ext cx="8778240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274320" y="288036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ChromaDB (Persistent Vector Store)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320040" y="326440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8CC"/>
                </a:solidFill>
              </a:rPr>
              <a:t>• Schema Collection: 14 table vectors (indexed once at startup)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320040" y="355701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8CC"/>
                </a:solidFill>
              </a:rPr>
              <a:t>• Memory Collection: Verified Q&amp;A pairs (grows with use)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4709160" y="326440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8CC"/>
                </a:solidFill>
              </a:rPr>
              <a:t>• Distance metric: Cosine similarity · Embedding: DefaultEmbeddingFunction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4709160" y="355701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8CC"/>
                </a:solidFill>
              </a:rPr>
              <a:t>• Similarity threshold: 85% for cache hit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182880" y="4023360"/>
            <a:ext cx="1645920" cy="822960"/>
          </a:xfrm>
          <a:prstGeom prst="rect">
            <a:avLst/>
          </a:prstGeom>
          <a:solidFill>
            <a:srgbClr val="161B27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182880" y="406908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CAF50"/>
                </a:solidFill>
              </a:rPr>
              <a:t>64% fewer tokens</a:t>
            </a:r>
            <a:endParaRPr lang="en-US" sz="1300" dirty="0"/>
          </a:p>
        </p:txBody>
      </p:sp>
      <p:sp>
        <p:nvSpPr>
          <p:cNvPr id="68" name="Text 66"/>
          <p:cNvSpPr/>
          <p:nvPr/>
        </p:nvSpPr>
        <p:spPr>
          <a:xfrm>
            <a:off x="182880" y="446227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0B8CC"/>
                </a:solidFill>
              </a:rPr>
              <a:t>RAG Coverage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1938528" y="4023360"/>
            <a:ext cx="1645920" cy="822960"/>
          </a:xfrm>
          <a:prstGeom prst="rect">
            <a:avLst/>
          </a:prstGeom>
          <a:solidFill>
            <a:srgbClr val="161B27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1938528" y="406908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CAF50"/>
                </a:solidFill>
              </a:rPr>
              <a:t>&lt; 200ms response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1938528" y="446227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0B8CC"/>
                </a:solidFill>
              </a:rPr>
              <a:t>Memory Hit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3694176" y="4023360"/>
            <a:ext cx="1645920" cy="822960"/>
          </a:xfrm>
          <a:prstGeom prst="rect">
            <a:avLst/>
          </a:prstGeom>
          <a:solidFill>
            <a:srgbClr val="161B27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3694176" y="406908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CAF50"/>
                </a:solidFill>
              </a:rPr>
              <a:t>0-100 per query</a:t>
            </a:r>
            <a:endParaRPr lang="en-US" sz="1300" dirty="0"/>
          </a:p>
        </p:txBody>
      </p:sp>
      <p:sp>
        <p:nvSpPr>
          <p:cNvPr id="74" name="Text 72"/>
          <p:cNvSpPr/>
          <p:nvPr/>
        </p:nvSpPr>
        <p:spPr>
          <a:xfrm>
            <a:off x="3694176" y="446227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0B8CC"/>
                </a:solidFill>
              </a:rPr>
              <a:t>Eval Score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5449824" y="4023360"/>
            <a:ext cx="1645920" cy="822960"/>
          </a:xfrm>
          <a:prstGeom prst="rect">
            <a:avLst/>
          </a:prstGeom>
          <a:solidFill>
            <a:srgbClr val="161B27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5449824" y="406908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CAF50"/>
                </a:solidFill>
              </a:rPr>
              <a:t>Input + Output</a:t>
            </a:r>
            <a:endParaRPr lang="en-US" sz="1300" dirty="0"/>
          </a:p>
        </p:txBody>
      </p:sp>
      <p:sp>
        <p:nvSpPr>
          <p:cNvPr id="77" name="Text 75"/>
          <p:cNvSpPr/>
          <p:nvPr/>
        </p:nvSpPr>
        <p:spPr>
          <a:xfrm>
            <a:off x="5449824" y="446227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0B8CC"/>
                </a:solidFill>
              </a:rPr>
              <a:t>Guardrails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7205472" y="4023360"/>
            <a:ext cx="1645920" cy="822960"/>
          </a:xfrm>
          <a:prstGeom prst="rect">
            <a:avLst/>
          </a:prstGeom>
          <a:solidFill>
            <a:srgbClr val="161B27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7205472" y="406908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CAF50"/>
                </a:solidFill>
              </a:rPr>
              <a:t>4 LLMs compared</a:t>
            </a:r>
            <a:endParaRPr lang="en-US" sz="1300" dirty="0"/>
          </a:p>
        </p:txBody>
      </p:sp>
      <p:sp>
        <p:nvSpPr>
          <p:cNvPr id="80" name="Text 78"/>
          <p:cNvSpPr/>
          <p:nvPr/>
        </p:nvSpPr>
        <p:spPr>
          <a:xfrm>
            <a:off x="7205472" y="446227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0B8CC"/>
                </a:solidFill>
              </a:rPr>
              <a:t>Models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4CAF50"/>
                </a:solidFill>
              </a:rPr>
              <a:t>RAG — RETRIEVAL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How Tables Are Filtered Per Question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387503"/>
            <a:ext cx="237744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4F7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4173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User Question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17373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0B8CC"/>
                </a:solidFill>
              </a:rPr>
              <a:t>"top 5 products by sales"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651760" y="1697603"/>
            <a:ext cx="334352" cy="9940"/>
          </a:xfrm>
          <a:prstGeom prst="line">
            <a:avLst/>
          </a:prstGeom>
          <a:noFill/>
          <a:ln w="25400">
            <a:solidFill>
              <a:srgbClr val="4F7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880360" y="1618488"/>
            <a:ext cx="3383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F7EF8"/>
                </a:solidFill>
              </a:rPr>
              <a:t>▶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153091" y="1266444"/>
            <a:ext cx="2589740" cy="914400"/>
          </a:xfrm>
          <a:prstGeom prst="rect">
            <a:avLst/>
          </a:prstGeom>
          <a:solidFill>
            <a:srgbClr val="161B27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108960" y="1280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ChromaDB Vector Search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108960" y="1645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0B8CC"/>
                </a:solidFill>
              </a:rPr>
              <a:t>Cosine similarity in ~50ms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89320" y="1618488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CAF50"/>
                </a:solidFill>
              </a:rPr>
              <a:t>▶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1156716"/>
            <a:ext cx="2606040" cy="1147572"/>
          </a:xfrm>
          <a:prstGeom prst="rect">
            <a:avLst/>
          </a:prstGeom>
          <a:solidFill>
            <a:srgbClr val="161B27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217920" y="12801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Top 5 Retrieved Tables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90622" y="1982259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263640" y="166420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90624" y="224067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63640" y="207568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CAF50"/>
                </a:solidFill>
              </a:rPr>
              <a:t>✓ Suppliers (0.67)</a:t>
            </a:r>
          </a:p>
          <a:p>
            <a:r>
              <a:rPr lang="en-US" sz="900" dirty="0">
                <a:solidFill>
                  <a:srgbClr val="4CAF50"/>
                </a:solidFill>
              </a:rPr>
              <a:t>✓ Orders (0.81) </a:t>
            </a:r>
          </a:p>
          <a:p>
            <a:r>
              <a:rPr lang="en-US" sz="900" dirty="0">
                <a:solidFill>
                  <a:srgbClr val="4CAF50"/>
                </a:solidFill>
              </a:rPr>
              <a:t>✓ Order Details (0.88)</a:t>
            </a:r>
          </a:p>
          <a:p>
            <a:r>
              <a:rPr lang="en-US" sz="900" dirty="0">
                <a:solidFill>
                  <a:srgbClr val="4CAF50"/>
                </a:solidFill>
              </a:rPr>
              <a:t>✓ Products (0.92)</a:t>
            </a:r>
          </a:p>
          <a:p>
            <a:r>
              <a:rPr lang="en-US" sz="900" dirty="0">
                <a:solidFill>
                  <a:srgbClr val="4CAF50"/>
                </a:solidFill>
              </a:rPr>
              <a:t>✓ Categories (0.71)</a:t>
            </a:r>
            <a:endParaRPr lang="en-US" sz="900" dirty="0"/>
          </a:p>
          <a:p>
            <a:endParaRPr lang="en-US" sz="900" dirty="0"/>
          </a:p>
          <a:p>
            <a:endParaRPr lang="en-US" sz="900" dirty="0"/>
          </a:p>
          <a:p>
            <a:endParaRPr lang="en-US" sz="900" dirty="0"/>
          </a:p>
          <a:p>
            <a:pPr marL="0" indent="0">
              <a:buNone/>
            </a:pP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2514600"/>
            <a:ext cx="8503920" cy="2377440"/>
          </a:xfrm>
          <a:prstGeom prst="rect">
            <a:avLst/>
          </a:prstGeom>
          <a:solidFill>
            <a:srgbClr val="161B27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20040" y="2514600"/>
            <a:ext cx="850392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11480" y="251460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Token Usage Comparison — RAG vs No RAG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29718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Tables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103120" y="2971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Without RAG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114800" y="2971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With RAG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26480" y="2971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Token Saving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331927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8CC"/>
                </a:solidFill>
              </a:rPr>
              <a:t>14 tables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103120" y="331927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8CC"/>
                </a:solidFill>
              </a:rPr>
              <a:t>~2,800 tokens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114800" y="331927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9488"/>
                </a:solidFill>
              </a:rPr>
              <a:t>~1,000 tokens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126480" y="331927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CAF50"/>
                </a:solidFill>
              </a:rPr>
              <a:t>64% saved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57200" y="366674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8CC"/>
                </a:solidFill>
              </a:rPr>
              <a:t>50 tables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103120" y="366674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8CC"/>
                </a:solidFill>
              </a:rPr>
              <a:t>~10,000 tokens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114800" y="366674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9488"/>
                </a:solidFill>
              </a:rPr>
              <a:t>~1,000 tokens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126480" y="366674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CAF50"/>
                </a:solidFill>
              </a:rPr>
              <a:t>90% saved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57200" y="401421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8CC"/>
                </a:solidFill>
              </a:rPr>
              <a:t>100 tables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103120" y="401421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8CC"/>
                </a:solidFill>
              </a:rPr>
              <a:t>~20,000 tokens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114800" y="401421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9488"/>
                </a:solidFill>
              </a:rPr>
              <a:t>~1,000 tokens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126480" y="401421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CAF50"/>
                </a:solidFill>
              </a:rPr>
              <a:t>95% saved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57200" y="436168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8CC"/>
                </a:solidFill>
              </a:rPr>
              <a:t>200 tables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2103120" y="436168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8CC"/>
                </a:solidFill>
              </a:rPr>
              <a:t>~40,000 tokens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114800" y="436168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9488"/>
                </a:solidFill>
              </a:rPr>
              <a:t>~1,000 tokens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126480" y="436168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CAF50"/>
                </a:solidFill>
              </a:rPr>
              <a:t>97.5% saved</a:t>
            </a:r>
            <a:endParaRPr lang="en-US" sz="9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587416AB-6800-EAB4-CBD2-DB5668C3CD3D}"/>
                  </a:ext>
                </a:extLst>
              </p14:cNvPr>
              <p14:cNvContentPartPr/>
              <p14:nvPr/>
            </p14:nvContentPartPr>
            <p14:xfrm>
              <a:off x="5753661" y="1718875"/>
              <a:ext cx="336600" cy="252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587416AB-6800-EAB4-CBD2-DB5668C3CD3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744661" y="1710235"/>
                <a:ext cx="354240" cy="2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E5DA46B9-BD1A-F471-728E-A6BEFC30F5D8}"/>
                  </a:ext>
                </a:extLst>
              </p14:cNvPr>
              <p14:cNvContentPartPr/>
              <p14:nvPr/>
            </p14:nvContentPartPr>
            <p14:xfrm>
              <a:off x="4309701" y="1499995"/>
              <a:ext cx="360" cy="36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E5DA46B9-BD1A-F471-728E-A6BEFC30F5D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300701" y="1490995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517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4CAF50"/>
                </a:solidFill>
              </a:rPr>
              <a:t>MEMORY LAYER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ChromaDB</a:t>
            </a:r>
            <a:r>
              <a:rPr lang="en-US" sz="3200" b="1" dirty="0">
                <a:solidFill>
                  <a:srgbClr val="FFFFFF"/>
                </a:solidFill>
              </a:rPr>
              <a:t> Query Cache — How Memory Works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1417320"/>
            <a:ext cx="8503920" cy="1463040"/>
          </a:xfrm>
          <a:prstGeom prst="rect">
            <a:avLst/>
          </a:prstGeom>
          <a:solidFill>
            <a:srgbClr val="161B27"/>
          </a:solidFill>
          <a:ln w="12700">
            <a:solidFill>
              <a:srgbClr val="4F7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8503920" cy="347472"/>
          </a:xfrm>
          <a:prstGeom prst="rect">
            <a:avLst/>
          </a:prstGeom>
          <a:solidFill>
            <a:srgbClr val="4F7EF8"/>
          </a:solidFill>
          <a:ln w="12700">
            <a:solidFill>
              <a:srgbClr val="4F7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41732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First Time — Question Not in Cache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874520"/>
            <a:ext cx="9601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4F7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874520"/>
            <a:ext cx="960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Question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371600" y="1965960"/>
            <a:ext cx="9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F7EF8"/>
                </a:solidFill>
              </a:rPr>
              <a:t>→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463040" y="1874520"/>
            <a:ext cx="9601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4F7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463040" y="1874520"/>
            <a:ext cx="960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Memory Miss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423160" y="1965960"/>
            <a:ext cx="9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F7EF8"/>
                </a:solidFill>
              </a:rPr>
              <a:t>→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14600" y="1874520"/>
            <a:ext cx="9601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4F7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514600" y="1874520"/>
            <a:ext cx="960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RAG Retrieval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474720" y="1965960"/>
            <a:ext cx="9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F7EF8"/>
                </a:solidFill>
              </a:rPr>
              <a:t>→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566160" y="1874520"/>
            <a:ext cx="9601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4F7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566160" y="1874520"/>
            <a:ext cx="960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SQL Writer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526280" y="1965960"/>
            <a:ext cx="9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F7EF8"/>
                </a:solidFill>
              </a:rPr>
              <a:t>→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17720" y="1874520"/>
            <a:ext cx="9601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4F7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617720" y="1874520"/>
            <a:ext cx="960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Execute SQL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577840" y="1965960"/>
            <a:ext cx="9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F7EF8"/>
                </a:solidFill>
              </a:rPr>
              <a:t>→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669280" y="1874520"/>
            <a:ext cx="9601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4F7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669280" y="1874520"/>
            <a:ext cx="960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Evaluator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629400" y="1965960"/>
            <a:ext cx="9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F7EF8"/>
                </a:solidFill>
              </a:rPr>
              <a:t>→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720840" y="1874520"/>
            <a:ext cx="9601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4F7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720840" y="1874520"/>
            <a:ext cx="960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Visualizer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680960" y="1965960"/>
            <a:ext cx="9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F7EF8"/>
                </a:solidFill>
              </a:rPr>
              <a:t>→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772400" y="1874520"/>
            <a:ext cx="9601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4F7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772400" y="1874520"/>
            <a:ext cx="960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Save to Cache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11480" y="2468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8CC"/>
                </a:solidFill>
              </a:rPr>
              <a:t>Full pipeline: ~2-5 seconds · LLM called · Result verified &amp; stored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0040" y="2926080"/>
            <a:ext cx="8503920" cy="1463040"/>
          </a:xfrm>
          <a:prstGeom prst="rect">
            <a:avLst/>
          </a:prstGeom>
          <a:solidFill>
            <a:srgbClr val="161B27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20040" y="2926080"/>
            <a:ext cx="8503920" cy="34747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11480" y="292608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Second Time — Same/Similar Question (similarity &gt; 85%)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11480" y="3383280"/>
            <a:ext cx="146304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11480" y="338328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Question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874520" y="349300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CAF50"/>
                </a:solidFill>
              </a:rPr>
              <a:t>→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057400" y="3383280"/>
            <a:ext cx="146304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057400" y="338328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CAF50"/>
                </a:solidFill>
              </a:rPr>
              <a:t>Memory HIT ✓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520440" y="349300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CAF50"/>
                </a:solidFill>
              </a:rPr>
              <a:t>→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703320" y="3383280"/>
            <a:ext cx="146304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703320" y="338328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Re-run SQL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166360" y="349300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CAF50"/>
                </a:solidFill>
              </a:rPr>
              <a:t>→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349240" y="3383280"/>
            <a:ext cx="146304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349240" y="338328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Visualizer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812280" y="349300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CAF50"/>
                </a:solidFill>
              </a:rPr>
              <a:t>→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995160" y="3383280"/>
            <a:ext cx="146304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995160" y="338328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Instant Result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11480" y="3977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8CC"/>
                </a:solidFill>
              </a:rPr>
              <a:t>Cache hit: ~200ms · No LLM call · Only runs if evaluation previously passed · Similarity threshold: 85%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4CAF50"/>
                </a:solidFill>
              </a:rPr>
              <a:t>EVALUATION FRAMEWORK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Metrics &amp; Anti-Hallucination Checks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1371600"/>
            <a:ext cx="4206240" cy="1600200"/>
          </a:xfrm>
          <a:prstGeom prst="rect">
            <a:avLst/>
          </a:prstGeom>
          <a:solidFill>
            <a:srgbClr val="161B27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4206240" cy="36576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29768" y="13716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SQL Quality Score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9768" y="178308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B0B8CC"/>
                </a:solidFill>
              </a:rPr>
              <a:t>0-100 composite score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B0B8CC"/>
                </a:solidFill>
              </a:rPr>
              <a:t>−50 if execution fails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B0B8CC"/>
                </a:solidFill>
              </a:rPr>
              <a:t>−30 if 0 rows returned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B0B8CC"/>
                </a:solidFill>
              </a:rPr>
              <a:t>−20 per hallucinated table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B0B8CC"/>
                </a:solidFill>
              </a:rPr>
              <a:t>Terminal only — never shown to user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4206240" cy="1600200"/>
          </a:xfrm>
          <a:prstGeom prst="rect">
            <a:avLst/>
          </a:prstGeom>
          <a:solidFill>
            <a:srgbClr val="161B27"/>
          </a:solidFill>
          <a:ln w="1270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4206240" cy="36576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64608" y="13716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Hallucination Detection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64608" y="178308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B0B8CC"/>
                </a:solidFill>
              </a:rPr>
              <a:t>Tables used vs tables in DB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B0B8CC"/>
                </a:solidFill>
              </a:rPr>
              <a:t>Column names vs real schema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B0B8CC"/>
                </a:solidFill>
              </a:rPr>
              <a:t>SQL aliases excluded (not flagged)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B0B8CC"/>
                </a:solidFill>
              </a:rPr>
              <a:t>Rate = hallucinated / total tables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B0B8CC"/>
                </a:solidFill>
              </a:rPr>
              <a:t>Score &lt; 60 → result blocked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3154680"/>
            <a:ext cx="4206240" cy="1600200"/>
          </a:xfrm>
          <a:prstGeom prst="rect">
            <a:avLst/>
          </a:prstGeom>
          <a:solidFill>
            <a:srgbClr val="161B27"/>
          </a:solidFill>
          <a:ln w="12700">
            <a:solidFill>
              <a:srgbClr val="4F7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" y="3154680"/>
            <a:ext cx="4206240" cy="365760"/>
          </a:xfrm>
          <a:prstGeom prst="rect">
            <a:avLst/>
          </a:prstGeom>
          <a:solidFill>
            <a:srgbClr val="4F7EF8"/>
          </a:solidFill>
          <a:ln w="12700">
            <a:solidFill>
              <a:srgbClr val="4F7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29768" y="31546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RAG Precision@K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29768" y="356616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B0B8CC"/>
                </a:solidFill>
              </a:rPr>
              <a:t>Retrieved tables that are relevant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B0B8CC"/>
                </a:solidFill>
              </a:rPr>
              <a:t>K = 5 (top tables returned)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B0B8CC"/>
                </a:solidFill>
              </a:rPr>
              <a:t>Measured per question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B0B8CC"/>
                </a:solidFill>
              </a:rPr>
              <a:t>Coverage ratio: retrieved / total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B0B8CC"/>
                </a:solidFill>
              </a:rPr>
              <a:t>Narrows 14→5 tables (64% reduction)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3154680"/>
            <a:ext cx="4206240" cy="1600200"/>
          </a:xfrm>
          <a:prstGeom prst="rect">
            <a:avLst/>
          </a:prstGeom>
          <a:solidFill>
            <a:srgbClr val="161B2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54880" y="3154680"/>
            <a:ext cx="420624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64608" y="31546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Faithfulness Score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64608" y="356616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B0B8CC"/>
                </a:solidFill>
              </a:rPr>
              <a:t>Numbers in insight vs actual data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B0B8CC"/>
                </a:solidFill>
              </a:rPr>
              <a:t>Checks if insight matches rows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B0B8CC"/>
                </a:solidFill>
              </a:rPr>
              <a:t>0-100% scale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B0B8CC"/>
                </a:solidFill>
              </a:rPr>
              <a:t>&lt; 50% = flagged as hallucination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B0B8CC"/>
                </a:solidFill>
              </a:rPr>
              <a:t>Runs after visualizer completes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4CAF50"/>
                </a:solidFill>
              </a:rPr>
              <a:t>GUARDRAILS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Input &amp; Output Safety Checks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1371600"/>
            <a:ext cx="4160520" cy="3429000"/>
          </a:xfrm>
          <a:prstGeom prst="rect">
            <a:avLst/>
          </a:prstGeom>
          <a:solidFill>
            <a:srgbClr val="161B27"/>
          </a:solidFill>
          <a:ln w="1270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4160520" cy="384048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37160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Input Guardrail (input_guard.py)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CAF50"/>
                </a:solidFill>
              </a:rPr>
              <a:t>✓ Min length: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28800" y="187452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8CC"/>
                </a:solidFill>
              </a:rPr>
              <a:t>5 characters minimum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26771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CAF50"/>
                </a:solidFill>
              </a:rPr>
              <a:t>✓ Max length: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28800" y="226771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8CC"/>
                </a:solidFill>
              </a:rPr>
              <a:t>500 characters maximum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66090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CAF50"/>
                </a:solidFill>
              </a:rPr>
              <a:t>✓ Prompt injection: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28800" y="2660904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8CC"/>
                </a:solidFill>
              </a:rPr>
              <a:t>Blocks: ignore previous, act as, roleplay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05409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CAF50"/>
                </a:solidFill>
              </a:rPr>
              <a:t>✓ SQL injection: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828800" y="3054096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8CC"/>
                </a:solidFill>
              </a:rPr>
              <a:t>Blocks: DROP, DELETE, INSERT, UPDATE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34472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CAF50"/>
                </a:solidFill>
              </a:rPr>
              <a:t>✓ Business intent: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828800" y="344728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8CC"/>
                </a:solidFill>
              </a:rPr>
              <a:t>Warning if no business keywords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384048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CAF50"/>
                </a:solidFill>
              </a:rPr>
              <a:t>✓ Gibberish: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828800" y="384048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8CC"/>
                </a:solidFill>
              </a:rPr>
              <a:t>Blocks single-word inputs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23367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CAF50"/>
                </a:solidFill>
              </a:rPr>
              <a:t>✓ Sanitisation: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828800" y="423367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8CC"/>
                </a:solidFill>
              </a:rPr>
              <a:t>Strips dangerous SQL fragments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1371600"/>
            <a:ext cx="4160520" cy="3429000"/>
          </a:xfrm>
          <a:prstGeom prst="rect">
            <a:avLst/>
          </a:prstGeom>
          <a:solidFill>
            <a:srgbClr val="161B27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663440" y="1371600"/>
            <a:ext cx="4160520" cy="38404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54880" y="137160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Output Guardrail (output_guard.py)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54880" y="18745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CAF50"/>
                </a:solidFill>
              </a:rPr>
              <a:t>✓ No hallucinated tables: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583680" y="18745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8CC"/>
                </a:solidFill>
              </a:rPr>
              <a:t>SQL must only use real tables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54880" y="22677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CAF50"/>
                </a:solidFill>
              </a:rPr>
              <a:t>✓ Data not empty: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583680" y="226771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8CC"/>
                </a:solidFill>
              </a:rPr>
              <a:t>Must return at least 1 row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54880" y="266090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CAF50"/>
                </a:solidFill>
              </a:rPr>
              <a:t>✓ Quality threshold: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583680" y="266090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8CC"/>
                </a:solidFill>
              </a:rPr>
              <a:t>Score must be ≥ 50/100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54880" y="305409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CAF50"/>
                </a:solidFill>
              </a:rPr>
              <a:t>✓ Insight sanitised: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583680" y="305409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8CC"/>
                </a:solidFill>
              </a:rPr>
              <a:t>Remove SQL keywords from insight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54880" y="344728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CAF50"/>
                </a:solidFill>
              </a:rPr>
              <a:t>✓ No SQL in insight: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583680" y="344728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8CC"/>
                </a:solidFill>
              </a:rPr>
              <a:t>Strips SELECT/FROM/WHERE from text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754880" y="38404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CAF50"/>
                </a:solidFill>
              </a:rPr>
              <a:t>✓ Symbol cleanup: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583680" y="384048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8CC"/>
                </a:solidFill>
              </a:rPr>
              <a:t>Remove non-standard characters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754880" y="42336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CAF50"/>
                </a:solidFill>
              </a:rPr>
              <a:t>✓ Blocked result: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583680" y="423367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8CC"/>
                </a:solidFill>
              </a:rPr>
              <a:t>Returns error if any check fails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4CAF50"/>
                </a:solidFill>
              </a:rPr>
              <a:t>BENCHMARK 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4 Models Tested on Same Questions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20040" y="1325880"/>
          <a:ext cx="475488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120640" y="1325880"/>
            <a:ext cx="3703320" cy="2286000"/>
          </a:xfrm>
          <a:prstGeom prst="rect">
            <a:avLst/>
          </a:prstGeom>
          <a:solidFill>
            <a:srgbClr val="161B27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166360" y="138988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Model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537960" y="138988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Quality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452360" y="138988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Speed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275320" y="1389888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Success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166360" y="18013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8CC"/>
                </a:solidFill>
              </a:rPr>
              <a:t>Groq 3.1 8b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537960" y="18013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8CC"/>
                </a:solidFill>
              </a:rPr>
              <a:t>100/100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7452360" y="180136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8CC"/>
                </a:solidFill>
              </a:rPr>
              <a:t>377ms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8275320" y="1801368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CAF50"/>
                </a:solidFill>
              </a:rPr>
              <a:t>100%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166360" y="22128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8CC"/>
                </a:solidFill>
              </a:rPr>
              <a:t>Mistral 7b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537960" y="22128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8CC"/>
                </a:solidFill>
              </a:rPr>
              <a:t>100/100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7452360" y="221284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8CC"/>
                </a:solidFill>
              </a:rPr>
              <a:t>1046ms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8275320" y="2212848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CAF50"/>
                </a:solidFill>
              </a:rPr>
              <a:t>100%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5166360" y="262432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8CC"/>
                </a:solidFill>
              </a:rPr>
              <a:t>Gemini Lite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6537960" y="262432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8CC"/>
                </a:solidFill>
              </a:rPr>
              <a:t>50/100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7452360" y="262432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8CC"/>
                </a:solidFill>
              </a:rPr>
              <a:t>—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8275320" y="2624328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4B4A"/>
                </a:solidFill>
              </a:rPr>
              <a:t>50%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5166360" y="30358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8CC"/>
                </a:solidFill>
              </a:rPr>
              <a:t>Cohere A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537960" y="30358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8CC"/>
                </a:solidFill>
              </a:rPr>
              <a:t>100/100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7452360" y="303580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8CC"/>
                </a:solidFill>
              </a:rPr>
              <a:t>9514ms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8275320" y="3035808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CAF50"/>
                </a:solidFill>
              </a:rPr>
              <a:t>100%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320040" y="3749040"/>
            <a:ext cx="8503920" cy="1097280"/>
          </a:xfrm>
          <a:prstGeom prst="rect">
            <a:avLst/>
          </a:prstGeom>
          <a:solidFill>
            <a:srgbClr val="161B27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457200" y="37947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AF50"/>
                </a:solidFill>
              </a:rPr>
              <a:t>🏆 Winner: Groq Llama 3.1 8b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457200" y="42062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8CC"/>
                </a:solidFill>
              </a:rPr>
              <a:t>Fastest at 377ms · 100% success rate · 0% hallucination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4572000" y="3822192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B7280"/>
                </a:solidFill>
              </a:rPr>
              <a:t>Note: Gemini scored lower due to free tier quota limits — not model quality.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B7280"/>
                </a:solidFill>
              </a:rPr>
              <a:t>For production: Gemini is recommended for accuracy, Groq for speed.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4CAF50"/>
                </a:solidFill>
              </a:rPr>
              <a:t>TEMPERATURE &amp; DETERMINISM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Will Same Question Give Same SQL?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1371600"/>
            <a:ext cx="8503920" cy="548640"/>
          </a:xfrm>
          <a:prstGeom prst="rect">
            <a:avLst/>
          </a:prstGeom>
          <a:solidFill>
            <a:srgbClr val="161B27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435608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4356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0.0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920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8CC"/>
                </a:solidFill>
              </a:rPr>
              <a:t>Fully deterministic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103120" y="1435608"/>
            <a:ext cx="411480" cy="41148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103120" y="14356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0.1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011680" y="1920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8CC"/>
                </a:solidFill>
              </a:rPr>
              <a:t>SQL Writer (our setting)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840480" y="1435608"/>
            <a:ext cx="411480" cy="411480"/>
          </a:xfrm>
          <a:prstGeom prst="ellipse">
            <a:avLst/>
          </a:prstGeom>
          <a:solidFill>
            <a:srgbClr val="4F7EF8"/>
          </a:solidFill>
          <a:ln w="12700">
            <a:solidFill>
              <a:srgbClr val="4F7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840480" y="14356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0.2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749040" y="1920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8CC"/>
                </a:solidFill>
              </a:rPr>
              <a:t>Default factory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577840" y="1435608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577840" y="14356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0.3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86400" y="1920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8CC"/>
                </a:solidFill>
              </a:rPr>
              <a:t>Visualizer (our setting)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315200" y="1435608"/>
            <a:ext cx="411480" cy="411480"/>
          </a:xfrm>
          <a:prstGeom prst="ellipse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0" y="14356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0.5+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223760" y="1920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8CC"/>
                </a:solidFill>
              </a:rPr>
              <a:t>Very random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0040" y="2377440"/>
            <a:ext cx="8503920" cy="1874520"/>
          </a:xfrm>
          <a:prstGeom prst="rect">
            <a:avLst/>
          </a:prstGeom>
          <a:solidFill>
            <a:srgbClr val="161B27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20040" y="2377440"/>
            <a:ext cx="850392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11480" y="237744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Agent Temperature Settings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2834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Agent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286000" y="2834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Temperature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0" y="2834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Behaviour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669280" y="28346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Why This Value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8CC"/>
                </a:solidFill>
              </a:rPr>
              <a:t>SQL Writer (Agent 1)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286000" y="3136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CAF50"/>
                </a:solidFill>
              </a:rPr>
              <a:t>0.1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657600" y="31363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8CC"/>
                </a:solidFill>
              </a:rPr>
              <a:t>Almost deterministic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669280" y="31363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8CC"/>
                </a:solidFill>
              </a:rPr>
              <a:t>SQL needs to be precise and repeatable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57200" y="34381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8CC"/>
                </a:solidFill>
              </a:rPr>
              <a:t>Executor (Agent 2)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286000" y="343814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CAF50"/>
                </a:solidFill>
              </a:rPr>
              <a:t>0.0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657600" y="34381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8CC"/>
                </a:solidFill>
              </a:rPr>
              <a:t>Fully deterministic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669280" y="343814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8CC"/>
                </a:solidFill>
              </a:rPr>
              <a:t>No creativity needed — just run the query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57200" y="37398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8CC"/>
                </a:solidFill>
              </a:rPr>
              <a:t>Visualizer (Agent 3)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286000" y="37398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CAF50"/>
                </a:solidFill>
              </a:rPr>
              <a:t>0.3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657600" y="37398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8CC"/>
                </a:solidFill>
              </a:rPr>
              <a:t>Slightly creative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669280" y="373989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8CC"/>
                </a:solidFill>
              </a:rPr>
              <a:t>Insights benefit from varied language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57200" y="4041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8CC"/>
                </a:solidFill>
              </a:rPr>
              <a:t>LLM Factory default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2286000" y="40416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CAF50"/>
                </a:solidFill>
              </a:rPr>
              <a:t>0.2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657600" y="40416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8CC"/>
                </a:solidFill>
              </a:rPr>
              <a:t>Balanced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669280" y="40416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8CC"/>
                </a:solidFill>
              </a:rPr>
              <a:t>Good for general use across models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20040" y="4251960"/>
            <a:ext cx="8503920" cy="640080"/>
          </a:xfrm>
          <a:prstGeom prst="rect">
            <a:avLst/>
          </a:prstGeom>
          <a:solidFill>
            <a:srgbClr val="161B27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8CC"/>
                </a:solidFill>
              </a:rPr>
              <a:t>Memory Cache makes repeated questions 100% deterministic — same SQL always returned from cache regardless of temperature.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4CAF50"/>
                </a:solidFill>
              </a:rPr>
              <a:t>DEPLOYMENT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Published on GitHub &amp; Streamlit Cloud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1371600"/>
            <a:ext cx="4206240" cy="1143000"/>
          </a:xfrm>
          <a:prstGeom prst="rect">
            <a:avLst/>
          </a:prstGeom>
          <a:solidFill>
            <a:srgbClr val="161B27"/>
          </a:solidFill>
          <a:ln w="12700">
            <a:solidFill>
              <a:srgbClr val="4F7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11480" cy="411480"/>
          </a:xfrm>
          <a:prstGeom prst="ellipse">
            <a:avLst/>
          </a:prstGeom>
          <a:solidFill>
            <a:srgbClr val="4F7EF8"/>
          </a:solidFill>
          <a:ln w="12700">
            <a:solidFill>
              <a:srgbClr val="4F7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148132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Code pushed to GitHub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0B8CC"/>
                </a:solidFill>
              </a:rPr>
              <a:t>Full project including README, requirements.txt, folder structure. .env and venv excluded via .gitignore. API keys protected.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4206240" cy="1143000"/>
          </a:xfrm>
          <a:prstGeom prst="rect">
            <a:avLst/>
          </a:prstGeom>
          <a:solidFill>
            <a:srgbClr val="161B27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892040" y="1463040"/>
            <a:ext cx="411480" cy="41148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94960" y="148132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Streamlit Cloud setup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92040" y="19202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0B8CC"/>
                </a:solidFill>
              </a:rPr>
              <a:t>Connected GitHub repo to share.streamlit.io. API keys added as Secrets in Streamlit Cloud dashboard (not in code).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2633472"/>
            <a:ext cx="4206240" cy="1143000"/>
          </a:xfrm>
          <a:prstGeom prst="rect">
            <a:avLst/>
          </a:prstGeom>
          <a:solidFill>
            <a:srgbClr val="161B27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2724912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272491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60120" y="274320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Secrets configuration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182112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0B8CC"/>
                </a:solidFill>
              </a:rPr>
              <a:t>In Streamlit Cloud → App Settings → Secrets: added GOOGLE_API_KEY, GROQ_API_KEY, COHERE_API_KEY, MISTRAL_API_KEY, LLM_PROVIDER.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0" y="2633472"/>
            <a:ext cx="4206240" cy="1143000"/>
          </a:xfrm>
          <a:prstGeom prst="rect">
            <a:avLst/>
          </a:prstGeom>
          <a:solidFill>
            <a:srgbClr val="161B2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92040" y="2724912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92040" y="272491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94960" y="274320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RAG auto-indexing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92040" y="3182112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0B8CC"/>
                </a:solidFill>
              </a:rPr>
              <a:t>NorthwindCrew.__init__() detects missing ChromaDB index on first run and rebuilds it automatically. Zero manual setup needed.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3895344"/>
            <a:ext cx="4206240" cy="1143000"/>
          </a:xfrm>
          <a:prstGeom prst="rect">
            <a:avLst/>
          </a:prstGeom>
          <a:solidFill>
            <a:srgbClr val="161B27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57200" y="3986784"/>
            <a:ext cx="411480" cy="41148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" y="398678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60120" y="400507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App live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443984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0B8CC"/>
                </a:solidFill>
              </a:rPr>
              <a:t>App accessible via public URL. Users can ask business questions in plain English — no SQL knowledge required. Free to use.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3895344"/>
            <a:ext cx="4206240" cy="1143000"/>
          </a:xfrm>
          <a:prstGeom prst="rect">
            <a:avLst/>
          </a:prstGeom>
          <a:solidFill>
            <a:srgbClr val="161B27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892040" y="3986784"/>
            <a:ext cx="411480" cy="4114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92040" y="398678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94960" y="400507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GitHub Actions (planned)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92040" y="4443984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0B8CC"/>
                </a:solidFill>
              </a:rPr>
              <a:t>CI/CD pipeline to auto-redeploy on every git push. Automated tests run before deployment using test_db.py.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4CAF50"/>
                </a:solidFill>
              </a:rPr>
              <a:t>BENCHMARK DETAIL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Question-by-Question Model Comparison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1371600"/>
            <a:ext cx="8503920" cy="1911096"/>
          </a:xfrm>
          <a:prstGeom prst="rect">
            <a:avLst/>
          </a:prstGeom>
          <a:solidFill>
            <a:srgbClr val="161B27"/>
          </a:solidFill>
          <a:ln w="12700">
            <a:solidFill>
              <a:srgbClr val="4F7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8503920" cy="365760"/>
          </a:xfrm>
          <a:prstGeom prst="rect">
            <a:avLst/>
          </a:prstGeom>
          <a:solidFill>
            <a:srgbClr val="4F7EF8"/>
          </a:solidFill>
          <a:ln w="12700">
            <a:solidFill>
              <a:srgbClr val="4F7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37160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Q1: What were the top 5 products by total sales?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828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Model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874520" y="1828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SQL Written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74920" y="1828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Rows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532120" y="1828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Time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46520" y="1828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Score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360920" y="1828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Hallucinated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21305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8CC"/>
                </a:solidFill>
              </a:rPr>
              <a:t>Gemini 2.0 Flash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874520" y="21305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8CC"/>
                </a:solidFill>
              </a:rPr>
              <a:t>SELECT p.ProductName, SUM(od.Quantity*od.UnitPrice*(1-od.Discount))...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074920" y="21305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8CC"/>
                </a:solidFill>
              </a:rPr>
              <a:t>5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532120" y="21305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8CC"/>
                </a:solidFill>
              </a:rPr>
              <a:t>5532ms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446520" y="21305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CAF50"/>
                </a:solidFill>
              </a:rPr>
              <a:t>100/100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360920" y="21305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CAF50"/>
                </a:solidFill>
              </a:rPr>
              <a:t>None ✓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1480" y="2432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8CC"/>
                </a:solidFill>
              </a:rPr>
              <a:t>Groq Llama 3.1 8b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874520" y="24323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8CC"/>
                </a:solidFill>
              </a:rPr>
              <a:t>SELECT p.ProductName, SUM(od.Quantity*od.UnitPrice*(1-od.Discount))...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074920" y="24323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8CC"/>
                </a:solidFill>
              </a:rPr>
              <a:t>5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532120" y="243230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8CC"/>
                </a:solidFill>
              </a:rPr>
              <a:t>381ms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446520" y="243230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CAF50"/>
                </a:solidFill>
              </a:rPr>
              <a:t>100/100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360920" y="243230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CAF50"/>
                </a:solidFill>
              </a:rPr>
              <a:t>None ✓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11480" y="27340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8CC"/>
                </a:solidFill>
              </a:rPr>
              <a:t>Mistral 7b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874520" y="273405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8CC"/>
                </a:solidFill>
              </a:rPr>
              <a:t>SELECT p.ProductName, SUM(od.Quantity*od.UnitPrice*(1-od.Discount))...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074920" y="273405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8CC"/>
                </a:solidFill>
              </a:rPr>
              <a:t>5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532120" y="27340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8CC"/>
                </a:solidFill>
              </a:rPr>
              <a:t>851ms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446520" y="27340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CAF50"/>
                </a:solidFill>
              </a:rPr>
              <a:t>100/100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360920" y="27340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CAF50"/>
                </a:solidFill>
              </a:rPr>
              <a:t>None ✓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11480" y="30358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8CC"/>
                </a:solidFill>
              </a:rPr>
              <a:t>Cohere Command A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874520" y="30358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8CC"/>
                </a:solidFill>
              </a:rPr>
              <a:t>SELECT p.ProductName, SUM(od.Quantity*od.UnitPrice*(1-od.Discount))...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074920" y="30358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8CC"/>
                </a:solidFill>
              </a:rPr>
              <a:t>5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532120" y="30358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8CC"/>
                </a:solidFill>
              </a:rPr>
              <a:t>11712ms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446520" y="30358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CAF50"/>
                </a:solidFill>
              </a:rPr>
              <a:t>100/100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7360920" y="30358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CAF50"/>
                </a:solidFill>
              </a:rPr>
              <a:t>None ✓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20040" y="3310128"/>
            <a:ext cx="8503920" cy="1783080"/>
          </a:xfrm>
          <a:prstGeom prst="rect">
            <a:avLst/>
          </a:prstGeom>
          <a:solidFill>
            <a:srgbClr val="161B27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320040" y="3328416"/>
            <a:ext cx="8503920" cy="3108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11480" y="3328416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Q2: Which customers have the highest order frequency?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11480" y="3611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Model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1874520" y="3611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Interpretation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160520" y="3611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Rows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617720" y="3611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Time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532120" y="3611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Score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446520" y="3611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Observation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11480" y="39136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8CC"/>
                </a:solidFill>
              </a:rPr>
              <a:t>Gemini 2.0 Flash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1874520" y="39136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8CC"/>
                </a:solidFill>
              </a:rPr>
              <a:t>—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160520" y="39136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8CC"/>
                </a:solidFill>
              </a:rPr>
              <a:t>0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617720" y="39136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8CC"/>
                </a:solidFill>
              </a:rPr>
              <a:t>—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532120" y="39136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4B4A"/>
                </a:solidFill>
              </a:rPr>
              <a:t>0/100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6446520" y="39136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8CC"/>
                </a:solidFill>
              </a:rPr>
              <a:t>Quota exhausted (not model failure)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11480" y="421538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8CC"/>
                </a:solidFill>
              </a:rPr>
              <a:t>Groq Llama 3.1 8b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1874520" y="42153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8CC"/>
                </a:solidFill>
              </a:rPr>
              <a:t>LIMIT 1 — single top customer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4160520" y="421538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8CC"/>
                </a:solidFill>
              </a:rPr>
              <a:t>1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4617720" y="42153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8CC"/>
                </a:solidFill>
              </a:rPr>
              <a:t>372ms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5532120" y="42153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CAF50"/>
                </a:solidFill>
              </a:rPr>
              <a:t>100/100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6446520" y="421538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8CC"/>
                </a:solidFill>
              </a:rPr>
              <a:t>Strict interpretation of 'highest'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411480" y="451713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8CC"/>
                </a:solidFill>
              </a:rPr>
              <a:t>Mistral 7b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1874520" y="45171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8CC"/>
                </a:solidFill>
              </a:rPr>
              <a:t>No LIMIT — all customers ranked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4160520" y="45171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8CC"/>
                </a:solidFill>
              </a:rPr>
              <a:t>93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4617720" y="45171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8CC"/>
                </a:solidFill>
              </a:rPr>
              <a:t>1241ms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5532120" y="45171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CAF50"/>
                </a:solidFill>
              </a:rPr>
              <a:t>100/100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6446520" y="451713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8CC"/>
                </a:solidFill>
              </a:rPr>
              <a:t>Most thorough, shows full ranking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411480" y="48188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8CC"/>
                </a:solidFill>
              </a:rPr>
              <a:t>Cohere Command A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1874520" y="48188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8CC"/>
                </a:solidFill>
              </a:rPr>
              <a:t>LIMIT 5 — top 5 customers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4160520" y="48188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8CC"/>
                </a:solidFill>
              </a:rPr>
              <a:t>5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4617720" y="48188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8CC"/>
                </a:solidFill>
              </a:rPr>
              <a:t>7317ms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5532120" y="48188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CAF50"/>
                </a:solidFill>
              </a:rPr>
              <a:t>100/100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6446520" y="48188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8CC"/>
                </a:solidFill>
              </a:rPr>
              <a:t>Best for business dashboards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4CAF50"/>
                </a:solidFill>
              </a:rPr>
              <a:t>PROJECT COMPLETE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What Was Built &amp; Delivered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1325880" cy="868680"/>
          </a:xfrm>
          <a:prstGeom prst="rect">
            <a:avLst/>
          </a:prstGeom>
          <a:solidFill>
            <a:srgbClr val="161B27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CAF50"/>
                </a:solidFill>
              </a:rPr>
              <a:t>3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892808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8CC"/>
                </a:solidFill>
              </a:rPr>
              <a:t>AI Agents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801368" y="1371600"/>
            <a:ext cx="1325880" cy="868680"/>
          </a:xfrm>
          <a:prstGeom prst="rect">
            <a:avLst/>
          </a:prstGeom>
          <a:solidFill>
            <a:srgbClr val="161B27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801368" y="1417320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CAF50"/>
                </a:solidFill>
              </a:rPr>
              <a:t>4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801368" y="1892808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8CC"/>
                </a:solidFill>
              </a:rPr>
              <a:t>LLMs Compared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36976" y="1371600"/>
            <a:ext cx="1325880" cy="868680"/>
          </a:xfrm>
          <a:prstGeom prst="rect">
            <a:avLst/>
          </a:prstGeom>
          <a:solidFill>
            <a:srgbClr val="161B27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36976" y="1417320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CAF50"/>
                </a:solidFill>
              </a:rPr>
              <a:t>RAG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236976" y="1892808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8CC"/>
                </a:solidFill>
              </a:rPr>
              <a:t>ChromaDB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72584" y="1371600"/>
            <a:ext cx="1325880" cy="868680"/>
          </a:xfrm>
          <a:prstGeom prst="rect">
            <a:avLst/>
          </a:prstGeom>
          <a:solidFill>
            <a:srgbClr val="161B27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72584" y="1417320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CAF50"/>
                </a:solidFill>
              </a:rPr>
              <a:t>85%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672584" y="1892808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8CC"/>
                </a:solidFill>
              </a:rPr>
              <a:t>Cache Threshold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08192" y="1371600"/>
            <a:ext cx="1325880" cy="868680"/>
          </a:xfrm>
          <a:prstGeom prst="rect">
            <a:avLst/>
          </a:prstGeom>
          <a:solidFill>
            <a:srgbClr val="161B27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108192" y="1417320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CAF50"/>
                </a:solidFill>
              </a:rPr>
              <a:t>100%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108192" y="1892808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8CC"/>
                </a:solidFill>
              </a:rPr>
              <a:t>Groq Success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543800" y="1371600"/>
            <a:ext cx="1325880" cy="868680"/>
          </a:xfrm>
          <a:prstGeom prst="rect">
            <a:avLst/>
          </a:prstGeom>
          <a:solidFill>
            <a:srgbClr val="161B27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543800" y="1417320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CAF50"/>
                </a:solidFill>
              </a:rPr>
              <a:t>Live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543800" y="1892808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8CC"/>
                </a:solidFill>
              </a:rPr>
              <a:t>On Streamlit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23957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Key Deliverables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2761488"/>
            <a:ext cx="83210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B0B8CC"/>
                </a:solidFill>
              </a:rPr>
              <a:t>✅  3-agent CrewAI pipeline: SQL Writer → Executor → Visualizer</a:t>
            </a:r>
            <a:endParaRPr lang="en-US" sz="1100" dirty="0"/>
          </a:p>
          <a:p>
            <a:pPr marL="0" indent="0">
              <a:lnSpc>
                <a:spcPct val="140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B0B8CC"/>
                </a:solidFill>
              </a:rPr>
              <a:t>✅  RAG with ChromaDB: reduces tokens by 64-97% as tables scale to 100-200</a:t>
            </a:r>
            <a:endParaRPr lang="en-US" sz="1100" dirty="0"/>
          </a:p>
          <a:p>
            <a:pPr marL="0" indent="0">
              <a:lnSpc>
                <a:spcPct val="140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B0B8CC"/>
                </a:solidFill>
              </a:rPr>
              <a:t>✅  Memory cache: repeated questions answered in &lt;200ms with no LLM call</a:t>
            </a:r>
            <a:endParaRPr lang="en-US" sz="1100" dirty="0"/>
          </a:p>
          <a:p>
            <a:pPr marL="0" indent="0">
              <a:lnSpc>
                <a:spcPct val="140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B0B8CC"/>
                </a:solidFill>
              </a:rPr>
              <a:t>✅  Evaluation metrics: SQL quality score, hallucination rate, faithfulness, Precision@K</a:t>
            </a:r>
            <a:endParaRPr lang="en-US" sz="1100" dirty="0"/>
          </a:p>
          <a:p>
            <a:pPr marL="0" indent="0">
              <a:lnSpc>
                <a:spcPct val="140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B0B8CC"/>
                </a:solidFill>
              </a:rPr>
              <a:t>✅  Guardrails: input sanitisation + output validation before showing any result</a:t>
            </a:r>
            <a:endParaRPr lang="en-US" sz="1100" dirty="0"/>
          </a:p>
          <a:p>
            <a:pPr marL="0" indent="0">
              <a:lnSpc>
                <a:spcPct val="140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B0B8CC"/>
                </a:solidFill>
              </a:rPr>
              <a:t>✅  Benchmark: 4 models compared — Groq fastest, Cohere most business-friendly</a:t>
            </a:r>
            <a:endParaRPr lang="en-US" sz="1100" dirty="0"/>
          </a:p>
          <a:p>
            <a:pPr marL="0" indent="0">
              <a:lnSpc>
                <a:spcPct val="140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B0B8CC"/>
                </a:solidFill>
              </a:rPr>
              <a:t>✅  Published on GitHub with README, .gitignore, requirements.txt</a:t>
            </a:r>
            <a:endParaRPr lang="en-US" sz="1100" dirty="0"/>
          </a:p>
          <a:p>
            <a:pPr marL="0" indent="0">
              <a:lnSpc>
                <a:spcPct val="140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B0B8CC"/>
                </a:solidFill>
              </a:rPr>
              <a:t>✅  Deployed on Streamlit Cloud — publicly accessible, zero SQL knowledge needed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CFC7CC-BD33-ADDA-8A17-7E173DA62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789CE7F-85BB-10B7-56C7-981A9983692B}"/>
              </a:ext>
            </a:extLst>
          </p:cNvPr>
          <p:cNvSpPr/>
          <p:nvPr/>
        </p:nvSpPr>
        <p:spPr>
          <a:xfrm>
            <a:off x="268357" y="636104"/>
            <a:ext cx="8418443" cy="44030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88" name="Text 0">
            <a:extLst>
              <a:ext uri="{FF2B5EF4-FFF2-40B4-BE49-F238E27FC236}">
                <a16:creationId xmlns:a16="http://schemas.microsoft.com/office/drawing/2014/main" id="{43F7027C-A8D9-C970-3D85-71A6F802E4CC}"/>
              </a:ext>
            </a:extLst>
          </p:cNvPr>
          <p:cNvSpPr/>
          <p:nvPr/>
        </p:nvSpPr>
        <p:spPr>
          <a:xfrm>
            <a:off x="420757" y="104361"/>
            <a:ext cx="8418443" cy="3528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4CAF50"/>
                </a:solidFill>
              </a:rPr>
              <a:t>The Execution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8472022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4CAF50"/>
                </a:solidFill>
              </a:rPr>
              <a:t>WHO CAN BENEFIT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Target Users &amp; Use Cases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1371600"/>
            <a:ext cx="2697480" cy="1554480"/>
          </a:xfrm>
          <a:prstGeom prst="rect">
            <a:avLst/>
          </a:prstGeom>
          <a:solidFill>
            <a:srgbClr val="161B27"/>
          </a:solidFill>
          <a:ln w="12700">
            <a:solidFill>
              <a:srgbClr val="4F7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536192"/>
            <a:ext cx="502920" cy="502920"/>
          </a:xfrm>
          <a:prstGeom prst="ellipse">
            <a:avLst/>
          </a:prstGeom>
          <a:solidFill>
            <a:srgbClr val="4F7EF8"/>
          </a:solidFill>
          <a:ln w="12700">
            <a:solidFill>
              <a:srgbClr val="4F7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5361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💼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157276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Business Analysts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21408"/>
            <a:ext cx="2423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B0B8CC"/>
                </a:solidFill>
              </a:rPr>
              <a:t>Get instant answers to data questions without writing SQL. Spend time on insights, not queries.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0" y="1371600"/>
            <a:ext cx="2697480" cy="1554480"/>
          </a:xfrm>
          <a:prstGeom prst="rect">
            <a:avLst/>
          </a:prstGeom>
          <a:solidFill>
            <a:srgbClr val="161B27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383280" y="1536192"/>
            <a:ext cx="502920" cy="50292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83280" y="15361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🏢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977640" y="157276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Business Managers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37560" y="2121408"/>
            <a:ext cx="2423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B0B8CC"/>
                </a:solidFill>
              </a:rPr>
              <a:t>Ask questions about sales, customers and performance in plain English during meetings.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80760" y="1371600"/>
            <a:ext cx="2697480" cy="1554480"/>
          </a:xfrm>
          <a:prstGeom prst="rect">
            <a:avLst/>
          </a:prstGeom>
          <a:solidFill>
            <a:srgbClr val="161B2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263640" y="1536192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63640" y="15361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858000" y="157276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Students &amp; Learners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17920" y="2121408"/>
            <a:ext cx="2423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B0B8CC"/>
                </a:solidFill>
              </a:rPr>
              <a:t>Learn SQL by seeing natural language converted to queries in real time. Great for education.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3108960"/>
            <a:ext cx="2697480" cy="1554480"/>
          </a:xfrm>
          <a:prstGeom prst="rect">
            <a:avLst/>
          </a:prstGeom>
          <a:solidFill>
            <a:srgbClr val="161B27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02920" y="3273552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2920" y="32735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🛒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97280" y="331012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E-commerce Teams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3858768"/>
            <a:ext cx="2423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B0B8CC"/>
                </a:solidFill>
              </a:rPr>
              <a:t>Analyse order frequency, product performance and customer behaviour without a data team.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0" y="3108960"/>
            <a:ext cx="2697480" cy="1554480"/>
          </a:xfrm>
          <a:prstGeom prst="rect">
            <a:avLst/>
          </a:prstGeom>
          <a:solidFill>
            <a:srgbClr val="161B27"/>
          </a:solidFill>
          <a:ln w="12700">
            <a:solidFill>
              <a:srgbClr val="4F7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383280" y="3273552"/>
            <a:ext cx="502920" cy="502920"/>
          </a:xfrm>
          <a:prstGeom prst="ellipse">
            <a:avLst/>
          </a:prstGeom>
          <a:solidFill>
            <a:srgbClr val="4F7EF8"/>
          </a:solidFill>
          <a:ln w="12700">
            <a:solidFill>
              <a:srgbClr val="4F7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383280" y="32735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🔬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977640" y="331012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 Scientists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37560" y="3858768"/>
            <a:ext cx="2423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B0B8CC"/>
                </a:solidFill>
              </a:rPr>
              <a:t>Use as a rapid prototyping tool to validate questions before writing production pipelines.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080760" y="3108960"/>
            <a:ext cx="2697480" cy="1554480"/>
          </a:xfrm>
          <a:prstGeom prst="rect">
            <a:avLst/>
          </a:prstGeom>
          <a:solidFill>
            <a:srgbClr val="161B27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263640" y="3273552"/>
            <a:ext cx="502920" cy="50292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263640" y="32735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🏗️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858000" y="331012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AI/ML Developers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17920" y="3858768"/>
            <a:ext cx="2423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B0B8CC"/>
                </a:solidFill>
              </a:rPr>
              <a:t>Study the multi-agent agentic architecture as a reference implementation for their own projects.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9920956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</TotalTime>
  <Words>2219</Words>
  <Application>Microsoft Macintosh PowerPoint</Application>
  <PresentationFormat>On-screen Show (16:9)</PresentationFormat>
  <Paragraphs>481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Northwind Agentic AI — Full Project</dc:title>
  <dc:subject>PptxGenJS Presentation</dc:subject>
  <dc:creator>PptxGenJS</dc:creator>
  <cp:lastModifiedBy>Shraddha Shelar</cp:lastModifiedBy>
  <cp:revision>14</cp:revision>
  <dcterms:created xsi:type="dcterms:W3CDTF">2026-04-14T07:43:40Z</dcterms:created>
  <dcterms:modified xsi:type="dcterms:W3CDTF">2026-04-14T10:45:58Z</dcterms:modified>
</cp:coreProperties>
</file>