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5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3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919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5E6F7-178F-8B6A-65F9-3ECBF3FE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C129C-A9A7-1752-9C21-C7F5A9B56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AEB75-10A5-A3A3-A5FC-38D5D2A79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9C270-0988-CBEB-4F8F-A1889E5DF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20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AGENTIC AI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B0B8CC"/>
                </a:solidFill>
              </a:rPr>
              <a:t>A multi-agent AI system that answers business questions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B0B8CC"/>
                </a:solidFill>
              </a:rPr>
              <a:t>using natural language — powered by CrewAI &amp; Gemini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CrewAI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429768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65960" y="42976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Gemini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429768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42976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SQLite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429768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66360" y="42976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429768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42976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7EF8"/>
                </a:solidFill>
              </a:rPr>
              <a:t>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Challenge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Data is locked away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Business data sits in databases that require SQL expertise to access — non-technical users are excluded.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⏱️  Slow decision making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Waiting for analysts to write queries and build reports delays critical business decisions.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No instant insights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Converting raw data into meaningful charts and explanations requires manual work every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🔄  Repetitive manual 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The same queries get rewritten repeatedly with no automated pipeline to handle routine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PROJECT 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Set Out to Build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Natural Language 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Allow users to ask business questions in plain English without writing any SQL.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6517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Automated SQL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677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An AI agent that understands the Northwind schema and writes accurate SQLite queries.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Reliable Data Execution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2677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Execute SQL queries directly against a real database and return accurate results.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26517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Intelligent Visualizations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00507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Automatically choose the right chart type and generate business insights from the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200400"/>
            <a:ext cx="26517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3337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8328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Multi-Agent 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00507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Demonstrate agentic AI with 3 specialized agents coordinated by CrewAI.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3200400"/>
            <a:ext cx="26517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3337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Practical UI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400507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 clean Streamlit dashboard that anyone can use — no technical knowledge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965D9-B8ED-D37C-51E5-392A65B2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053C9C-BA44-B825-10BE-24F0DC77AAF4}"/>
              </a:ext>
            </a:extLst>
          </p:cNvPr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400" dirty="0">
                <a:solidFill>
                  <a:srgbClr val="4CAF50"/>
                </a:solidFill>
              </a:rPr>
              <a:t>Northwind Database Overview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3F0C44-77C8-F5D3-F0C1-D2E3534DE361}"/>
              </a:ext>
            </a:extLst>
          </p:cNvPr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</a:rPr>
              <a:t>Database features</a:t>
            </a:r>
            <a:endParaRPr lang="en-US" sz="36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381C19C3-37EC-0D1B-10CE-0C44BD47606A}"/>
              </a:ext>
            </a:extLst>
          </p:cNvPr>
          <p:cNvSpPr/>
          <p:nvPr/>
        </p:nvSpPr>
        <p:spPr>
          <a:xfrm>
            <a:off x="365760" y="14173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0C7862FB-0A6C-B3F1-3C39-24829DC05389}"/>
              </a:ext>
            </a:extLst>
          </p:cNvPr>
          <p:cNvSpPr/>
          <p:nvPr/>
        </p:nvSpPr>
        <p:spPr>
          <a:xfrm>
            <a:off x="365760" y="14173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90ECBDC-4D6F-C591-4C70-679927CC4F80}"/>
              </a:ext>
            </a:extLst>
          </p:cNvPr>
          <p:cNvSpPr/>
          <p:nvPr/>
        </p:nvSpPr>
        <p:spPr>
          <a:xfrm>
            <a:off x="548640" y="1647568"/>
            <a:ext cx="3840480" cy="1049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0B8CC"/>
                </a:solidFill>
              </a:rPr>
              <a:t>The Northwind Database is a sample relational database used to demonstrate business operations of a trading company. It models real-world scenarios like customers, orders, products, and suppliers, making it ideal for learning SQL, analytics, and data modeling.</a:t>
            </a:r>
            <a:endParaRPr lang="en-US" sz="115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29687D1D-83DD-58EE-529C-001C37649DBE}"/>
              </a:ext>
            </a:extLst>
          </p:cNvPr>
          <p:cNvSpPr/>
          <p:nvPr/>
        </p:nvSpPr>
        <p:spPr>
          <a:xfrm>
            <a:off x="4800600" y="1463864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IE" sz="1000" dirty="0">
                <a:solidFill>
                  <a:srgbClr val="B0B8CC"/>
                </a:solidFill>
              </a:rPr>
              <a:t>  Key Tables &amp; Their Purpose:</a:t>
            </a:r>
          </a:p>
          <a:p>
            <a:r>
              <a:rPr lang="en-IE" sz="1000" dirty="0">
                <a:solidFill>
                  <a:srgbClr val="B0B8CC"/>
                </a:solidFill>
              </a:rPr>
              <a:t>  Customers – Stores customer details such as name, contact, and location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Orders – Contains order transactions placed by customers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Order Details – Line-level data for each order (products, quantity, price)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Products – Information about products sold (name, price, stock)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Categories – Groups products into categories (e.g., beverages, dairy)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Suppliers – Details of suppliers providing products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Employees – Employee information managing orders and customers</a:t>
            </a:r>
            <a:br>
              <a:rPr lang="en-IE" sz="1000" dirty="0">
                <a:solidFill>
                  <a:srgbClr val="B0B8CC"/>
                </a:solidFill>
              </a:rPr>
            </a:br>
            <a:r>
              <a:rPr lang="en-IE" sz="1000" dirty="0">
                <a:solidFill>
                  <a:srgbClr val="B0B8CC"/>
                </a:solidFill>
              </a:rPr>
              <a:t>  Shippers – Shipping companies responsible for deliveries</a:t>
            </a: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432D084E-257E-F351-3FA1-62E9A90A37EC}"/>
              </a:ext>
            </a:extLst>
          </p:cNvPr>
          <p:cNvSpPr/>
          <p:nvPr/>
        </p:nvSpPr>
        <p:spPr>
          <a:xfrm>
            <a:off x="365760" y="30175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>
              <a:lnSpc>
                <a:spcPct val="135000"/>
              </a:lnSpc>
            </a:pPr>
            <a:r>
              <a:rPr lang="en-IE" sz="1050" dirty="0">
                <a:solidFill>
                  <a:srgbClr val="B0B8CC"/>
                </a:solidFill>
              </a:rPr>
              <a:t>  Key Relationships:</a:t>
            </a:r>
          </a:p>
          <a:p>
            <a:pPr>
              <a:lnSpc>
                <a:spcPct val="135000"/>
              </a:lnSpc>
            </a:pPr>
            <a:r>
              <a:rPr lang="en-IE" sz="1050" dirty="0">
                <a:solidFill>
                  <a:srgbClr val="B0B8CC"/>
                </a:solidFill>
              </a:rPr>
              <a:t> • Customers → Orders (One-to-Many)</a:t>
            </a:r>
            <a:br>
              <a:rPr lang="en-IE" sz="1050" dirty="0">
                <a:solidFill>
                  <a:srgbClr val="B0B8CC"/>
                </a:solidFill>
              </a:rPr>
            </a:br>
            <a:r>
              <a:rPr lang="en-IE" sz="1050" dirty="0">
                <a:solidFill>
                  <a:srgbClr val="B0B8CC"/>
                </a:solidFill>
              </a:rPr>
              <a:t> • Orders → Order Details (One-to-Many)</a:t>
            </a:r>
            <a:br>
              <a:rPr lang="en-IE" sz="1050" dirty="0">
                <a:solidFill>
                  <a:srgbClr val="B0B8CC"/>
                </a:solidFill>
              </a:rPr>
            </a:br>
            <a:r>
              <a:rPr lang="en-IE" sz="1050" dirty="0">
                <a:solidFill>
                  <a:srgbClr val="B0B8CC"/>
                </a:solidFill>
              </a:rPr>
              <a:t> • Products → Order Details (One-to-Many)</a:t>
            </a:r>
            <a:br>
              <a:rPr lang="en-IE" sz="1050" dirty="0">
                <a:solidFill>
                  <a:srgbClr val="B0B8CC"/>
                </a:solidFill>
              </a:rPr>
            </a:br>
            <a:r>
              <a:rPr lang="en-IE" sz="1050" dirty="0">
                <a:solidFill>
                  <a:srgbClr val="B0B8CC"/>
                </a:solidFill>
              </a:rPr>
              <a:t> • Suppliers → Products (One-to-Many)</a:t>
            </a:r>
            <a:br>
              <a:rPr lang="en-IE" sz="1050" dirty="0">
                <a:solidFill>
                  <a:srgbClr val="B0B8CC"/>
                </a:solidFill>
              </a:rPr>
            </a:br>
            <a:r>
              <a:rPr lang="en-IE" sz="1050" dirty="0">
                <a:solidFill>
                  <a:srgbClr val="B0B8CC"/>
                </a:solidFill>
              </a:rPr>
              <a:t> • Categories → Products (One-to-Many)</a:t>
            </a: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ED743BB0-0D8E-55CE-E812-0F3A2461F67C}"/>
              </a:ext>
            </a:extLst>
          </p:cNvPr>
          <p:cNvSpPr/>
          <p:nvPr/>
        </p:nvSpPr>
        <p:spPr>
          <a:xfrm>
            <a:off x="4800600" y="3017520"/>
            <a:ext cx="4160520" cy="1417320"/>
          </a:xfrm>
          <a:prstGeom prst="rect">
            <a:avLst/>
          </a:prstGeom>
          <a:solidFill>
            <a:srgbClr val="161B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IE" sz="1200" b="1" dirty="0">
                <a:solidFill>
                  <a:schemeClr val="bg2">
                    <a:lumMod val="75000"/>
                  </a:schemeClr>
                </a:solidFill>
              </a:rPr>
              <a:t>  </a:t>
            </a:r>
            <a:r>
              <a:rPr lang="en-IE" sz="1150" dirty="0">
                <a:solidFill>
                  <a:srgbClr val="B0B8CC"/>
                </a:solidFill>
              </a:rPr>
              <a:t>Use Cases:</a:t>
            </a:r>
          </a:p>
          <a:p>
            <a:endParaRPr lang="en-IE" sz="1150" dirty="0">
              <a:solidFill>
                <a:srgbClr val="B0B8CC"/>
              </a:solidFill>
            </a:endParaRPr>
          </a:p>
          <a:p>
            <a:r>
              <a:rPr lang="en-IE" sz="1150" dirty="0">
                <a:solidFill>
                  <a:srgbClr val="B0B8CC"/>
                </a:solidFill>
              </a:rPr>
              <a:t> • Sales and revenue analysis</a:t>
            </a:r>
            <a:br>
              <a:rPr lang="en-IE" sz="1150" dirty="0">
                <a:solidFill>
                  <a:srgbClr val="B0B8CC"/>
                </a:solidFill>
              </a:rPr>
            </a:br>
            <a:r>
              <a:rPr lang="en-IE" sz="1150" dirty="0">
                <a:solidFill>
                  <a:srgbClr val="B0B8CC"/>
                </a:solidFill>
              </a:rPr>
              <a:t> • Customer segmentation</a:t>
            </a:r>
            <a:br>
              <a:rPr lang="en-IE" sz="1150" dirty="0">
                <a:solidFill>
                  <a:srgbClr val="B0B8CC"/>
                </a:solidFill>
              </a:rPr>
            </a:br>
            <a:r>
              <a:rPr lang="en-IE" sz="1150" dirty="0">
                <a:solidFill>
                  <a:srgbClr val="B0B8CC"/>
                </a:solidFill>
              </a:rPr>
              <a:t> • Inventory tracking</a:t>
            </a:r>
            <a:br>
              <a:rPr lang="en-IE" sz="1150" dirty="0">
                <a:solidFill>
                  <a:srgbClr val="B0B8CC"/>
                </a:solidFill>
              </a:rPr>
            </a:br>
            <a:r>
              <a:rPr lang="en-IE" sz="1150" dirty="0">
                <a:solidFill>
                  <a:srgbClr val="B0B8CC"/>
                </a:solidFill>
              </a:rPr>
              <a:t> • Supply chain analysis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EEC629D1-2421-BF49-578C-0F488C12C827}"/>
              </a:ext>
            </a:extLst>
          </p:cNvPr>
          <p:cNvSpPr/>
          <p:nvPr/>
        </p:nvSpPr>
        <p:spPr>
          <a:xfrm>
            <a:off x="4800600" y="1448727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AD710037-5CF3-5890-44B4-EBAAEB3A5C5E}"/>
              </a:ext>
            </a:extLst>
          </p:cNvPr>
          <p:cNvSpPr/>
          <p:nvPr/>
        </p:nvSpPr>
        <p:spPr>
          <a:xfrm>
            <a:off x="365760" y="3017520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8DA2221E-C167-2AD5-B9DE-0F6B993839CF}"/>
              </a:ext>
            </a:extLst>
          </p:cNvPr>
          <p:cNvSpPr/>
          <p:nvPr/>
        </p:nvSpPr>
        <p:spPr>
          <a:xfrm>
            <a:off x="4800600" y="3032657"/>
            <a:ext cx="109728" cy="1417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98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the Agents Work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8288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Natural language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question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1664208"/>
            <a:ext cx="548640" cy="0"/>
          </a:xfrm>
          <a:prstGeom prst="line">
            <a:avLst/>
          </a:prstGeom>
          <a:noFill/>
          <a:ln w="254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78608" y="15361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7EF8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1325880"/>
            <a:ext cx="1828800" cy="68580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Streamlit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Web 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app.py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664208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47488" y="15361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0" y="1325880"/>
            <a:ext cx="1828800" cy="68580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578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CrewAI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Orchestrator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</a:rPr>
              <a:t>northwind_crew.py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0" cy="41148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CAF50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651760" cy="169164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2651760" cy="41148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✍️  Agent 1: SQL Writer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Translates question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into SQLite query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F7EF8"/>
                </a:solidFill>
              </a:rPr>
              <a:t>sql_writer.py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F7EF8"/>
                </a:solidFill>
              </a:rPr>
              <a:t>llm_factory.py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651760" cy="1691640"/>
          </a:xfrm>
          <a:prstGeom prst="rect">
            <a:avLst/>
          </a:prstGeom>
          <a:solidFill>
            <a:srgbClr val="161B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46120" y="2743200"/>
            <a:ext cx="2651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Agent 2: SQL Executor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Runs SQL against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Northwind 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59E0B"/>
                </a:solidFill>
              </a:rPr>
              <a:t>db_tool.py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59E0B"/>
                </a:solidFill>
              </a:rPr>
              <a:t>SQLite direct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651760" cy="169164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274320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Agent 3: Visualizer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Builds chart &amp;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generates insight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9488"/>
                </a:solidFill>
              </a:rPr>
              <a:t>visualizer.py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9488"/>
                </a:solidFill>
              </a:rPr>
              <a:t>matplotlib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71800" y="3593592"/>
            <a:ext cx="274320" cy="0"/>
          </a:xfrm>
          <a:prstGeom prst="line">
            <a:avLst/>
          </a:prstGeom>
          <a:noFill/>
          <a:ln w="254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36392" y="346557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7EF8"/>
                </a:solidFill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897880" y="3593592"/>
            <a:ext cx="2743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62472" y="3465576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Tools &amp; Frameworks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60520" cy="160020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&amp; Agents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CrewAI — multi-agent orchestration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Google Gemini 2.0 Flash Lite — LLM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Groq / Llama 3.1 — alternative LLM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LangChain — LLM integration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4160520" cy="160020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60520" cy="36576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&amp;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SQLite — Northwind database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Pandas — data manipulation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SQLAlchemy — DB connection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Python 3.11 — core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160520" cy="160020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&amp; UI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Streamlit — web interface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Matplotlib — chart rendering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Custom CSS — dark theme styling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Session state — query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154680"/>
            <a:ext cx="4160520" cy="1600200"/>
          </a:xfrm>
          <a:prstGeom prst="rect">
            <a:avLst/>
          </a:prstGeom>
          <a:solidFill>
            <a:srgbClr val="161B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60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154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VS Code — development IDE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Virtual environment (venv)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python-dotenv — API key management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LiteLLM — model routing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DEVELOPMENT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Steps Followed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99032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" y="1362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 Setup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" y="1618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Created folder structure, Python 3.11 venv, installed CrewAI, Streamlit, LangChain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399032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399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30368" y="1362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 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30368" y="1618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Downloaded Northwind SQLite DB, mapped schema — discovered [Order Details] table naming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112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2075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Built SQL Writer, Executor, Visualizer agents with roles, goals &amp; backstories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112264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112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2075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0368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Built llm_factory.py supporting Gemini, OpenAI, Groq with single .env switch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2549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" y="2788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Building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" y="3044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Created ExecuteSQLTool as CrewAI custom tool with input validation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82549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2788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 Architecture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30368" y="3044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Wired sequential crew: SQL Writer → Executor → Visualizer with context passing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538728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" y="3502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UI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" y="3758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Built Streamlit frontend with dark theme CSS, sidebar shortcuts, results layout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538728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3502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Debugging &amp; Fixes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3758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Fixed Python 3.9 → 3.11, API keys, table names, rate limits, JSON parsing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" y="4215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5528" y="4471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Created test_db.py for offline testing — validated SQL queries without API calls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4251960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4215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30368" y="4471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C"/>
                </a:solidFill>
              </a:rPr>
              <a:t>Separated SQL execution from agent, added retry logic, chart beautification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4F2D72-0C11-E449-904D-0067DB40F24C}"/>
              </a:ext>
            </a:extLst>
          </p:cNvPr>
          <p:cNvSpPr txBox="1"/>
          <p:nvPr/>
        </p:nvSpPr>
        <p:spPr>
          <a:xfrm>
            <a:off x="469557" y="54369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</a:t>
            </a:r>
          </a:p>
        </p:txBody>
      </p:sp>
      <p:pic>
        <p:nvPicPr>
          <p:cNvPr id="4" name="Screen Recording 2026-04-05 at 19.22.46.mov">
            <a:hlinkClick r:id="" action="ppaction://media"/>
            <a:extLst>
              <a:ext uri="{FF2B5EF4-FFF2-40B4-BE49-F238E27FC236}">
                <a16:creationId xmlns:a16="http://schemas.microsoft.com/office/drawing/2014/main" id="{20B8BC34-0019-60FE-ED69-538DC86251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38" y="0"/>
            <a:ext cx="912653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75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WHO CAN BENEFIT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Target Users &amp;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502920" cy="502920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Analysts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Get instant answers to data questions without writing SQL. Spend time on insights, not queries.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53619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Managers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2140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Ask questions about sales, customers and performance in plain English during meetings.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15361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Students &amp; Learners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12140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Learn SQL by seeing natural language converted to queries in real time. Great for education.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2735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E-commerce Teams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Analyse order frequency, product performance and customer behaviour without a data team.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10896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83280" y="3273552"/>
            <a:ext cx="502920" cy="502920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7764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Scientists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85876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Use as a rapid prototyping tool to validate questions before writing production pipelines.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3108960"/>
            <a:ext cx="269748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327355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AI/ML Developers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85876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0B8CC"/>
                </a:solidFill>
              </a:rPr>
              <a:t>Study the multi-agent agentic architecture as a reference implementation for their own projects.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FUTURE UPGRADES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Roadmap &amp;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97480" cy="352044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43891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3258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 — Short Term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Memory agent — remember previous questions in the session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Query history — save and replay past questions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Export to CSV / Excel directly from the UI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Better error messages with suggested rephrasing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97480" cy="3520440"/>
          </a:xfrm>
          <a:prstGeom prst="rect">
            <a:avLst/>
          </a:prstGeom>
          <a:solidFill>
            <a:srgbClr val="161B27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97480" cy="43891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0128" y="13258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 — Medium Term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Support for multiple databases beyond Northwind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Voice input — ask questions by speaking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Dashboard mode — pin </a:t>
            </a:r>
            <a:r>
              <a:rPr lang="en-US" sz="1100" dirty="0" err="1">
                <a:solidFill>
                  <a:srgbClr val="B0B8CC"/>
                </a:solidFill>
              </a:rPr>
              <a:t>favourite</a:t>
            </a:r>
            <a:r>
              <a:rPr lang="en-US" sz="1100" dirty="0">
                <a:solidFill>
                  <a:srgbClr val="B0B8CC"/>
                </a:solidFill>
              </a:rPr>
              <a:t> charts, Interactive charts.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Email reports — schedule weekly summaries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325880"/>
            <a:ext cx="2697480" cy="3520440"/>
          </a:xfrm>
          <a:prstGeom prst="rect">
            <a:avLst/>
          </a:prstGeom>
          <a:solidFill>
            <a:srgbClr val="161B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697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0488" y="13258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 — Long Term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Fine-tuned SQL model on company-specific schema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Role-based access — different users see different 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Predictive analytics — forecast future sales trends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0B8CC"/>
                </a:solidFill>
              </a:rPr>
              <a:t>Integration with BI tools like Tableau or Power BI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CAF50"/>
                </a:solidFill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Built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CAF50"/>
                </a:solidFill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AI Agents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Working Together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CAF50"/>
                </a:solidFill>
              </a:rPr>
              <a:t>20+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Business Questions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Answerable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463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CAF50"/>
                </a:solidFill>
              </a:rPr>
              <a:t>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LLM Providers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8CC"/>
                </a:solidFill>
              </a:rPr>
              <a:t>Supported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0B8CC"/>
                </a:solidFill>
              </a:rPr>
              <a:t>✅  Demonstrated a working 3-agent agentic AI pipeline using CrewAI</a:t>
            </a:r>
            <a:endParaRPr lang="en-US" sz="1200" dirty="0"/>
          </a:p>
          <a:p>
            <a:pPr marL="0" indent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0B8CC"/>
                </a:solidFill>
              </a:rPr>
              <a:t>✅  Natural language → SQL → Data → Chart — fully automated end to end</a:t>
            </a:r>
            <a:endParaRPr lang="en-US" sz="1200" dirty="0"/>
          </a:p>
          <a:p>
            <a:pPr marL="0" indent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0B8CC"/>
                </a:solidFill>
              </a:rPr>
              <a:t>✅  Flexible LLM support: Gemini, OpenAI, and Groq from a single config file</a:t>
            </a:r>
            <a:endParaRPr lang="en-US" sz="1200" dirty="0"/>
          </a:p>
          <a:p>
            <a:pPr marL="0" indent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0B8CC"/>
                </a:solidFill>
              </a:rPr>
              <a:t>✅  Built with real-world debugging experience — rate limits, schema issues, tool calling</a:t>
            </a:r>
            <a:endParaRPr lang="en-US" sz="1200" dirty="0"/>
          </a:p>
          <a:p>
            <a:pPr marL="0" indent="0">
              <a:lnSpc>
                <a:spcPct val="14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0B8CC"/>
                </a:solidFill>
              </a:rPr>
              <a:t>✅  Foundation ready for production upgrades: memory, multi-DB, voice input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1137</Words>
  <Application>Microsoft Macintosh PowerPoint</Application>
  <PresentationFormat>On-screen Show (16:9)</PresentationFormat>
  <Paragraphs>200</Paragraphs>
  <Slides>11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Agentic AI</dc:title>
  <dc:subject>PptxGenJS Presentation</dc:subject>
  <dc:creator>PptxGenJS</dc:creator>
  <cp:lastModifiedBy>Shraddha Shelar</cp:lastModifiedBy>
  <cp:revision>11</cp:revision>
  <dcterms:created xsi:type="dcterms:W3CDTF">2026-04-06T07:51:29Z</dcterms:created>
  <dcterms:modified xsi:type="dcterms:W3CDTF">2026-04-07T15:32:23Z</dcterms:modified>
</cp:coreProperties>
</file>